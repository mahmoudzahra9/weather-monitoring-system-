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71" r:id="rId12"/>
    <p:sldId id="272" r:id="rId13"/>
    <p:sldId id="273" r:id="rId14"/>
    <p:sldId id="274" r:id="rId15"/>
    <p:sldId id="275" r:id="rId16"/>
    <p:sldId id="268" r:id="rId17"/>
    <p:sldId id="269" r:id="rId18"/>
    <p:sldId id="270" r:id="rId19"/>
  </p:sldIdLst>
  <p:sldSz cx="18288000" cy="10287000"/>
  <p:notesSz cx="6858000" cy="9144000"/>
  <p:embeddedFontLst>
    <p:embeddedFont>
      <p:font typeface="Antonio Light" charset="0"/>
      <p:regular r:id="rId20"/>
    </p:embeddedFont>
    <p:embeddedFont>
      <p:font typeface="Raleway" charset="0"/>
      <p:regular r:id="rId21"/>
    </p:embeddedFont>
    <p:embeddedFont>
      <p:font typeface="Calibri" pitchFamily="34" charset="0"/>
      <p:regular r:id="rId22"/>
      <p:bold r:id="rId23"/>
    </p:embeddedFont>
    <p:embeddedFont>
      <p:font typeface="Raleway Medium" charset="0"/>
      <p:regular r:id="rId24"/>
    </p:embeddedFont>
    <p:embeddedFont>
      <p:font typeface="Antonio Ultra-Bold" charset="0"/>
      <p:regular r:id="rId25"/>
    </p:embeddedFont>
    <p:embeddedFont>
      <p:font typeface="Montserrat Medium" charset="0"/>
      <p:regular r:id="rId26"/>
    </p:embeddedFont>
    <p:embeddedFont>
      <p:font typeface="Raleway Ultra-Bold" charset="0"/>
      <p:regular r:id="rId27"/>
    </p:embeddedFont>
    <p:embeddedFont>
      <p:font typeface="Raleway Medium Italics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5" d="100"/>
          <a:sy n="55" d="100"/>
        </p:scale>
        <p:origin x="-658" y="-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10" Type="http://schemas.openxmlformats.org/officeDocument/2006/relationships/image" Target="../media/image6.jpeg"/><Relationship Id="rId4" Type="http://schemas.openxmlformats.org/officeDocument/2006/relationships/image" Target="../media/image3.svg"/><Relationship Id="rId9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3.png"/><Relationship Id="rId7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8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1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1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jpeg"/><Relationship Id="rId10" Type="http://schemas.openxmlformats.org/officeDocument/2006/relationships/image" Target="../media/image20.jpeg"/><Relationship Id="rId4" Type="http://schemas.openxmlformats.org/officeDocument/2006/relationships/image" Target="../media/image5.svg"/><Relationship Id="rId9" Type="http://schemas.openxmlformats.org/officeDocument/2006/relationships/image" Target="../media/image1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5" Type="http://schemas.openxmlformats.org/officeDocument/2006/relationships/image" Target="../media/image21.pn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jpe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jpe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jpeg"/><Relationship Id="rId5" Type="http://schemas.openxmlformats.org/officeDocument/2006/relationships/image" Target="../media/image27.png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jpeg"/><Relationship Id="rId5" Type="http://schemas.openxmlformats.org/officeDocument/2006/relationships/image" Target="../media/image28.png"/><Relationship Id="rId4" Type="http://schemas.openxmlformats.org/officeDocument/2006/relationships/image" Target="../media/image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jpeg"/><Relationship Id="rId5" Type="http://schemas.openxmlformats.org/officeDocument/2006/relationships/image" Target="../media/image29.png"/><Relationship Id="rId4" Type="http://schemas.openxmlformats.org/officeDocument/2006/relationships/image" Target="../media/image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jpeg"/><Relationship Id="rId5" Type="http://schemas.openxmlformats.org/officeDocument/2006/relationships/image" Target="../media/image30.png"/><Relationship Id="rId4" Type="http://schemas.openxmlformats.org/officeDocument/2006/relationships/image" Target="../media/image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26.jpeg"/><Relationship Id="rId4" Type="http://schemas.openxmlformats.org/officeDocument/2006/relationships/image" Target="../media/image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3.png"/><Relationship Id="rId7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93042" y="2034365"/>
            <a:ext cx="7137321" cy="713732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CD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599105" y="5143500"/>
            <a:ext cx="4884164" cy="488416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-10742067" y="-3151841"/>
            <a:ext cx="16235139" cy="16235139"/>
          </a:xfrm>
          <a:custGeom>
            <a:avLst/>
            <a:gdLst/>
            <a:ahLst/>
            <a:cxnLst/>
            <a:rect l="l" t="t" r="r" b="b"/>
            <a:pathLst>
              <a:path w="16235139" h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144000" y="5721891"/>
            <a:ext cx="3587414" cy="2530757"/>
          </a:xfrm>
          <a:custGeom>
            <a:avLst/>
            <a:gdLst/>
            <a:ahLst/>
            <a:cxnLst/>
            <a:rect l="l" t="t" r="r" b="b"/>
            <a:pathLst>
              <a:path w="3587414" h="2530757">
                <a:moveTo>
                  <a:pt x="0" y="0"/>
                </a:moveTo>
                <a:lnTo>
                  <a:pt x="3587414" y="0"/>
                </a:lnTo>
                <a:lnTo>
                  <a:pt x="3587414" y="2530757"/>
                </a:lnTo>
                <a:lnTo>
                  <a:pt x="0" y="25307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16802847" y="9074087"/>
            <a:ext cx="365153" cy="347891"/>
          </a:xfrm>
          <a:custGeom>
            <a:avLst/>
            <a:gdLst/>
            <a:ahLst/>
            <a:cxnLst/>
            <a:rect l="l" t="t" r="r" b="b"/>
            <a:pathLst>
              <a:path w="365153" h="347891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72049" y="8754671"/>
            <a:ext cx="5408361" cy="493362"/>
          </a:xfrm>
          <a:custGeom>
            <a:avLst/>
            <a:gdLst/>
            <a:ahLst/>
            <a:cxnLst/>
            <a:rect l="l" t="t" r="r" b="b"/>
            <a:pathLst>
              <a:path w="5408361" h="493362">
                <a:moveTo>
                  <a:pt x="0" y="0"/>
                </a:moveTo>
                <a:lnTo>
                  <a:pt x="5408361" y="0"/>
                </a:lnTo>
                <a:lnTo>
                  <a:pt x="5408361" y="493361"/>
                </a:lnTo>
                <a:lnTo>
                  <a:pt x="0" y="4933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6030363" y="896714"/>
            <a:ext cx="2680687" cy="897724"/>
            <a:chOff x="0" y="0"/>
            <a:chExt cx="706025" cy="23643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06025" cy="236438"/>
            </a:xfrm>
            <a:custGeom>
              <a:avLst/>
              <a:gdLst/>
              <a:ahLst/>
              <a:cxnLst/>
              <a:rect l="l" t="t" r="r" b="b"/>
              <a:pathLst>
                <a:path w="706025" h="236438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1277266" y="1028700"/>
            <a:ext cx="8092382" cy="5958570"/>
          </a:xfrm>
          <a:custGeom>
            <a:avLst/>
            <a:gdLst/>
            <a:ahLst/>
            <a:cxnLst/>
            <a:rect l="l" t="t" r="r" b="b"/>
            <a:pathLst>
              <a:path w="8092382" h="5958570">
                <a:moveTo>
                  <a:pt x="0" y="0"/>
                </a:moveTo>
                <a:lnTo>
                  <a:pt x="8092382" y="0"/>
                </a:lnTo>
                <a:lnTo>
                  <a:pt x="8092382" y="5958570"/>
                </a:lnTo>
                <a:lnTo>
                  <a:pt x="0" y="5958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8893042" y="5706482"/>
            <a:ext cx="3859132" cy="2561218"/>
          </a:xfrm>
          <a:custGeom>
            <a:avLst/>
            <a:gdLst/>
            <a:ahLst/>
            <a:cxnLst/>
            <a:rect l="l" t="t" r="r" b="b"/>
            <a:pathLst>
              <a:path w="3859132" h="2561218">
                <a:moveTo>
                  <a:pt x="0" y="0"/>
                </a:moveTo>
                <a:lnTo>
                  <a:pt x="3859132" y="0"/>
                </a:lnTo>
                <a:lnTo>
                  <a:pt x="3859132" y="2561217"/>
                </a:lnTo>
                <a:lnTo>
                  <a:pt x="0" y="256121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0" y="0"/>
            <a:ext cx="259125" cy="10287000"/>
          </a:xfrm>
          <a:custGeom>
            <a:avLst/>
            <a:gdLst/>
            <a:ahLst/>
            <a:cxnLst/>
            <a:rect l="l" t="t" r="r" b="b"/>
            <a:pathLst>
              <a:path w="259125" h="10287000">
                <a:moveTo>
                  <a:pt x="0" y="0"/>
                </a:moveTo>
                <a:lnTo>
                  <a:pt x="259125" y="0"/>
                </a:lnTo>
                <a:lnTo>
                  <a:pt x="25912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5203" r="-5852678" b="-5203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586831" y="57150"/>
            <a:ext cx="6293578" cy="4389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7267"/>
              </a:lnSpc>
              <a:spcBef>
                <a:spcPct val="0"/>
              </a:spcBef>
            </a:pPr>
            <a:r>
              <a:rPr lang="en-US" sz="14885" b="1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 WHETHER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35325" y="4340809"/>
            <a:ext cx="8736250" cy="6949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245"/>
              </a:lnSpc>
            </a:pPr>
            <a:r>
              <a:rPr lang="en-US" sz="15728" dirty="0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MONITORING SYSTEM</a:t>
            </a:r>
          </a:p>
          <a:p>
            <a:pPr algn="just">
              <a:lnSpc>
                <a:spcPts val="18245"/>
              </a:lnSpc>
              <a:spcBef>
                <a:spcPct val="0"/>
              </a:spcBef>
            </a:pPr>
            <a:endParaRPr lang="en-US" sz="15728" dirty="0">
              <a:solidFill>
                <a:srgbClr val="FFFFFF"/>
              </a:solidFill>
              <a:latin typeface="Antonio Light"/>
              <a:ea typeface="Antonio Light"/>
              <a:cs typeface="Antonio Light"/>
              <a:sym typeface="Antonio Light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6630080" y="1189894"/>
            <a:ext cx="822214" cy="291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  <a:spcBef>
                <a:spcPct val="0"/>
              </a:spcBef>
            </a:pPr>
            <a:r>
              <a:rPr lang="en-US" sz="1920" b="1" spc="199" dirty="0" smtClean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01/18</a:t>
            </a:r>
            <a:endParaRPr lang="en-US" sz="1920" b="1" spc="199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0742067" y="-3151841"/>
            <a:ext cx="16235139" cy="16235139"/>
          </a:xfrm>
          <a:custGeom>
            <a:avLst/>
            <a:gdLst/>
            <a:ahLst/>
            <a:cxnLst/>
            <a:rect l="l" t="t" r="r" b="b"/>
            <a:pathLst>
              <a:path w="16235139" h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6802847" y="9074087"/>
            <a:ext cx="365153" cy="347891"/>
          </a:xfrm>
          <a:custGeom>
            <a:avLst/>
            <a:gdLst/>
            <a:ahLst/>
            <a:cxnLst/>
            <a:rect l="l" t="t" r="r" b="b"/>
            <a:pathLst>
              <a:path w="365153" h="347891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2420600" y="2670677"/>
            <a:ext cx="5246370" cy="5246370"/>
            <a:chOff x="0" y="0"/>
            <a:chExt cx="6350000" cy="635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4838700" y="0"/>
                  </a:moveTo>
                  <a:lnTo>
                    <a:pt x="1511300" y="0"/>
                  </a:lnTo>
                  <a:cubicBezTo>
                    <a:pt x="676910" y="0"/>
                    <a:pt x="0" y="676910"/>
                    <a:pt x="0" y="1511300"/>
                  </a:cubicBezTo>
                  <a:lnTo>
                    <a:pt x="0" y="6350000"/>
                  </a:lnTo>
                  <a:lnTo>
                    <a:pt x="4838700" y="6350000"/>
                  </a:lnTo>
                  <a:cubicBezTo>
                    <a:pt x="5673090" y="6350000"/>
                    <a:pt x="6350000" y="5673090"/>
                    <a:pt x="6350000" y="4838700"/>
                  </a:cubicBezTo>
                  <a:lnTo>
                    <a:pt x="6350000" y="0"/>
                  </a:lnTo>
                  <a:lnTo>
                    <a:pt x="483870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85725" cap="sq">
              <a:gradFill>
                <a:gsLst>
                  <a:gs pos="0">
                    <a:srgbClr val="243F81">
                      <a:alpha val="100000"/>
                    </a:srgbClr>
                  </a:gs>
                  <a:gs pos="100000">
                    <a:srgbClr val="28819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11846596" y="2438860"/>
            <a:ext cx="1148007" cy="114800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19309" y="2004942"/>
            <a:ext cx="11658761" cy="6732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9"/>
              </a:lnSpc>
            </a:pPr>
            <a:endParaRPr sz="4000" dirty="0"/>
          </a:p>
          <a:p>
            <a:pPr algn="l">
              <a:lnSpc>
                <a:spcPts val="3659"/>
              </a:lnSpc>
            </a:pPr>
            <a:r>
              <a:rPr lang="en-US" sz="4000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This project is an </a:t>
            </a:r>
            <a:r>
              <a:rPr lang="en-US" sz="4000" dirty="0" err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IoT</a:t>
            </a:r>
            <a:r>
              <a:rPr lang="en-US" sz="4000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-based weather monitoring system that measures </a:t>
            </a:r>
            <a:r>
              <a:rPr lang="en-US" sz="4000" dirty="0" err="1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temperature,humidity,pressure,altitude,and</a:t>
            </a:r>
            <a:r>
              <a:rPr lang="en-US" sz="4000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rain drops </a:t>
            </a:r>
            <a:r>
              <a:rPr lang="en-US" sz="4000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using </a:t>
            </a:r>
            <a:r>
              <a:rPr lang="en-US" sz="4000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3 important sensors </a:t>
            </a:r>
            <a:r>
              <a:rPr lang="en-US" sz="4000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DHT11 </a:t>
            </a:r>
            <a:r>
              <a:rPr lang="en-US" sz="4000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sensor,BMP180 </a:t>
            </a:r>
            <a:r>
              <a:rPr lang="en-US" sz="4000" dirty="0" err="1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sensor,and</a:t>
            </a:r>
            <a:r>
              <a:rPr lang="en-US" sz="4000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4000" dirty="0" err="1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RainDrop</a:t>
            </a:r>
            <a:r>
              <a:rPr lang="en-US" sz="4000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sensor </a:t>
            </a:r>
            <a:r>
              <a:rPr lang="en-US" sz="4000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and sends </a:t>
            </a:r>
            <a:r>
              <a:rPr lang="en-US" sz="4000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the collected </a:t>
            </a:r>
            <a:r>
              <a:rPr lang="en-US" sz="4000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data to the </a:t>
            </a:r>
            <a:r>
              <a:rPr lang="en-US" sz="4000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microcontroller that is called </a:t>
            </a:r>
            <a:r>
              <a:rPr lang="en-US" sz="4000" dirty="0" err="1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NodeMcu</a:t>
            </a:r>
            <a:r>
              <a:rPr lang="en-US" sz="4000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Esp8266 that makes a local </a:t>
            </a:r>
            <a:r>
              <a:rPr lang="en-US" sz="4000" dirty="0" err="1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proccess</a:t>
            </a:r>
            <a:r>
              <a:rPr lang="en-US" sz="4000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then it sends the data through a </a:t>
            </a:r>
            <a:r>
              <a:rPr lang="en-US" sz="4000" dirty="0" err="1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wifi</a:t>
            </a:r>
            <a:r>
              <a:rPr lang="en-US" sz="4000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connection to the </a:t>
            </a:r>
            <a:r>
              <a:rPr lang="en-US" sz="4000" dirty="0" err="1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thingspeak</a:t>
            </a:r>
            <a:r>
              <a:rPr lang="en-US" sz="4000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The </a:t>
            </a:r>
            <a:r>
              <a:rPr lang="en-US" sz="4000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readings are displayed online in real </a:t>
            </a:r>
            <a:r>
              <a:rPr lang="en-US" sz="4000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time database </a:t>
            </a:r>
            <a:r>
              <a:rPr lang="en-US" sz="4000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using </a:t>
            </a:r>
            <a:r>
              <a:rPr lang="en-US" sz="4000" dirty="0" err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ThingSpeak</a:t>
            </a:r>
            <a:r>
              <a:rPr lang="en-US" sz="4000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</a:p>
          <a:p>
            <a:pPr algn="l">
              <a:lnSpc>
                <a:spcPts val="3481"/>
              </a:lnSpc>
            </a:pPr>
            <a:endParaRPr lang="en-US" sz="4000" dirty="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l">
              <a:lnSpc>
                <a:spcPts val="2313"/>
              </a:lnSpc>
            </a:pPr>
            <a:endParaRPr lang="en-US" sz="4000" dirty="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l">
              <a:lnSpc>
                <a:spcPts val="2313"/>
              </a:lnSpc>
              <a:spcBef>
                <a:spcPct val="0"/>
              </a:spcBef>
            </a:pPr>
            <a:endParaRPr lang="en-US" sz="4000" dirty="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6111293" y="7179103"/>
            <a:ext cx="1148007" cy="1148007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378088" y="296037"/>
            <a:ext cx="1776216" cy="936546"/>
            <a:chOff x="0" y="0"/>
            <a:chExt cx="467810" cy="24666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67810" cy="246662"/>
            </a:xfrm>
            <a:custGeom>
              <a:avLst/>
              <a:gdLst/>
              <a:ahLst/>
              <a:cxnLst/>
              <a:rect l="l" t="t" r="r" b="b"/>
              <a:pathLst>
                <a:path w="467810" h="246662">
                  <a:moveTo>
                    <a:pt x="0" y="0"/>
                  </a:moveTo>
                  <a:lnTo>
                    <a:pt x="467810" y="0"/>
                  </a:lnTo>
                  <a:lnTo>
                    <a:pt x="467810" y="246662"/>
                  </a:lnTo>
                  <a:lnTo>
                    <a:pt x="0" y="246662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46000"/>
                  </a:srgbClr>
                </a:gs>
                <a:gs pos="100000">
                  <a:srgbClr val="9B9B9B">
                    <a:alpha val="5520"/>
                  </a:srgbClr>
                </a:gs>
              </a:gsLst>
              <a:lin ang="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467810" cy="2657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030363" y="896714"/>
            <a:ext cx="2680687" cy="897724"/>
            <a:chOff x="0" y="0"/>
            <a:chExt cx="706025" cy="23643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06025" cy="236438"/>
            </a:xfrm>
            <a:custGeom>
              <a:avLst/>
              <a:gdLst/>
              <a:ahLst/>
              <a:cxnLst/>
              <a:rect l="l" t="t" r="r" b="b"/>
              <a:pathLst>
                <a:path w="706025" h="236438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6630080" y="1189894"/>
            <a:ext cx="822214" cy="291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  <a:spcBef>
                <a:spcPct val="0"/>
              </a:spcBef>
            </a:pPr>
            <a:r>
              <a:rPr lang="en-US" sz="1920" b="1" spc="199" dirty="0" smtClean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02/18</a:t>
            </a:r>
            <a:endParaRPr lang="en-US" sz="1920" b="1" spc="199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49470" y="324612"/>
            <a:ext cx="9463997" cy="90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158"/>
              </a:lnSpc>
              <a:spcBef>
                <a:spcPct val="0"/>
              </a:spcBef>
            </a:pPr>
            <a:r>
              <a:rPr lang="en-US" sz="6171" b="1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WHAT IS A WEATHER MONITORING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465173" y="240602"/>
            <a:ext cx="2912915" cy="1085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550"/>
              </a:lnSpc>
              <a:spcBef>
                <a:spcPct val="0"/>
              </a:spcBef>
            </a:pPr>
            <a:r>
              <a:rPr lang="en-US" sz="7371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 SYSTEM?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0734352" y="-2974069"/>
            <a:ext cx="16235139" cy="16235139"/>
          </a:xfrm>
          <a:custGeom>
            <a:avLst/>
            <a:gdLst/>
            <a:ahLst/>
            <a:cxnLst/>
            <a:rect l="l" t="t" r="r" b="b"/>
            <a:pathLst>
              <a:path w="16235139" h="16235139">
                <a:moveTo>
                  <a:pt x="16235139" y="0"/>
                </a:moveTo>
                <a:lnTo>
                  <a:pt x="0" y="0"/>
                </a:lnTo>
                <a:lnTo>
                  <a:pt x="0" y="16235138"/>
                </a:lnTo>
                <a:lnTo>
                  <a:pt x="16235139" y="16235138"/>
                </a:lnTo>
                <a:lnTo>
                  <a:pt x="16235139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6802847" y="9074087"/>
            <a:ext cx="365153" cy="347891"/>
          </a:xfrm>
          <a:custGeom>
            <a:avLst/>
            <a:gdLst/>
            <a:ahLst/>
            <a:cxnLst/>
            <a:rect l="l" t="t" r="r" b="b"/>
            <a:pathLst>
              <a:path w="365153" h="347891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827493" y="1569757"/>
            <a:ext cx="12853387" cy="7431595"/>
          </a:xfrm>
          <a:custGeom>
            <a:avLst/>
            <a:gdLst/>
            <a:ahLst/>
            <a:cxnLst/>
            <a:rect l="l" t="t" r="r" b="b"/>
            <a:pathLst>
              <a:path w="12853387" h="7431595">
                <a:moveTo>
                  <a:pt x="0" y="0"/>
                </a:moveTo>
                <a:lnTo>
                  <a:pt x="12853387" y="0"/>
                </a:lnTo>
                <a:lnTo>
                  <a:pt x="12853387" y="7431594"/>
                </a:lnTo>
                <a:lnTo>
                  <a:pt x="0" y="74315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-167005" y="3871013"/>
            <a:ext cx="3692982" cy="3692982"/>
            <a:chOff x="0" y="0"/>
            <a:chExt cx="14840029" cy="14840029"/>
          </a:xfrm>
        </p:grpSpPr>
        <p:sp>
          <p:nvSpPr>
            <p:cNvPr id="6" name="Freeform 6"/>
            <p:cNvSpPr/>
            <p:nvPr/>
          </p:nvSpPr>
          <p:spPr>
            <a:xfrm>
              <a:off x="-33258" y="-75"/>
              <a:ext cx="14906544" cy="14840178"/>
            </a:xfrm>
            <a:custGeom>
              <a:avLst/>
              <a:gdLst/>
              <a:ahLst/>
              <a:cxnLst/>
              <a:rect l="l" t="t" r="r" b="b"/>
              <a:pathLst>
                <a:path w="14906544" h="14840178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Freeform 7"/>
            <p:cNvSpPr/>
            <p:nvPr/>
          </p:nvSpPr>
          <p:spPr>
            <a:xfrm>
              <a:off x="168022" y="200309"/>
              <a:ext cx="14503985" cy="14439411"/>
            </a:xfrm>
            <a:custGeom>
              <a:avLst/>
              <a:gdLst/>
              <a:ahLst/>
              <a:cxnLst/>
              <a:rect l="l" t="t" r="r" b="b"/>
              <a:pathLst>
                <a:path w="14503985" h="14439411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531276" y="561946"/>
              <a:ext cx="13777477" cy="13716137"/>
            </a:xfrm>
            <a:custGeom>
              <a:avLst/>
              <a:gdLst/>
              <a:ahLst/>
              <a:cxnLst/>
              <a:rect l="l" t="t" r="r" b="b"/>
              <a:pathLst>
                <a:path w="13777477" h="1371613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7"/>
              <a:stretch>
                <a:fillRect l="-29373" r="-29373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6030363" y="896714"/>
            <a:ext cx="2680687" cy="897724"/>
            <a:chOff x="0" y="0"/>
            <a:chExt cx="706025" cy="23643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06025" cy="236438"/>
            </a:xfrm>
            <a:custGeom>
              <a:avLst/>
              <a:gdLst/>
              <a:ahLst/>
              <a:cxnLst/>
              <a:rect l="l" t="t" r="r" b="b"/>
              <a:pathLst>
                <a:path w="706025" h="236438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4783589" y="3795351"/>
            <a:ext cx="3692982" cy="3692982"/>
            <a:chOff x="0" y="0"/>
            <a:chExt cx="14840029" cy="14840029"/>
          </a:xfrm>
        </p:grpSpPr>
        <p:sp>
          <p:nvSpPr>
            <p:cNvPr id="13" name="Freeform 13"/>
            <p:cNvSpPr/>
            <p:nvPr/>
          </p:nvSpPr>
          <p:spPr>
            <a:xfrm>
              <a:off x="-33258" y="-75"/>
              <a:ext cx="14906544" cy="14840178"/>
            </a:xfrm>
            <a:custGeom>
              <a:avLst/>
              <a:gdLst/>
              <a:ahLst/>
              <a:cxnLst/>
              <a:rect l="l" t="t" r="r" b="b"/>
              <a:pathLst>
                <a:path w="14906544" h="14840178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4" name="Freeform 14"/>
            <p:cNvSpPr/>
            <p:nvPr/>
          </p:nvSpPr>
          <p:spPr>
            <a:xfrm>
              <a:off x="168022" y="200309"/>
              <a:ext cx="14503985" cy="14439411"/>
            </a:xfrm>
            <a:custGeom>
              <a:avLst/>
              <a:gdLst/>
              <a:ahLst/>
              <a:cxnLst/>
              <a:rect l="l" t="t" r="r" b="b"/>
              <a:pathLst>
                <a:path w="14503985" h="14439411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531276" y="561946"/>
              <a:ext cx="13777477" cy="13716137"/>
            </a:xfrm>
            <a:custGeom>
              <a:avLst/>
              <a:gdLst/>
              <a:ahLst/>
              <a:cxnLst/>
              <a:rect l="l" t="t" r="r" b="b"/>
              <a:pathLst>
                <a:path w="13777477" h="1371613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8"/>
              <a:stretch>
                <a:fillRect l="223" t="-9767" r="-19225" b="-9767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679486" y="4569497"/>
            <a:ext cx="1148007" cy="1148007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5300184" y="7190525"/>
            <a:ext cx="1148007" cy="1148007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6630080" y="1189894"/>
            <a:ext cx="822214" cy="291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  <a:spcBef>
                <a:spcPct val="0"/>
              </a:spcBef>
            </a:pPr>
            <a:r>
              <a:rPr lang="en-US" sz="1920" b="1" spc="199" dirty="0" smtClean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03/18</a:t>
            </a:r>
            <a:endParaRPr lang="en-US" sz="1920" b="1" spc="199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472049" y="145523"/>
            <a:ext cx="5749623" cy="1540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056"/>
              </a:lnSpc>
              <a:spcBef>
                <a:spcPct val="0"/>
              </a:spcBef>
            </a:pPr>
            <a:r>
              <a:rPr lang="en-US" sz="10393" b="1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 PROBLEM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367562" y="145523"/>
            <a:ext cx="6187406" cy="1540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056"/>
              </a:lnSpc>
              <a:spcBef>
                <a:spcPct val="0"/>
              </a:spcBef>
            </a:pPr>
            <a:r>
              <a:rPr lang="en-US" sz="10393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STATEMENT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650375" y="2231512"/>
            <a:ext cx="10980025" cy="46935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65"/>
              </a:lnSpc>
            </a:pPr>
            <a:endParaRPr dirty="0"/>
          </a:p>
          <a:p>
            <a:pPr algn="ctr">
              <a:lnSpc>
                <a:spcPts val="4543"/>
              </a:lnSpc>
            </a:pPr>
            <a:endParaRPr dirty="0"/>
          </a:p>
          <a:p>
            <a:pPr algn="ctr">
              <a:lnSpc>
                <a:spcPts val="4543"/>
              </a:lnSpc>
            </a:pPr>
            <a:r>
              <a:rPr lang="en-US" sz="3916" b="1" dirty="0" smtClean="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People are usually depend on whether apps that is:</a:t>
            </a:r>
            <a:endParaRPr lang="en-US" sz="3916" b="1" dirty="0">
              <a:solidFill>
                <a:srgbClr val="FFFFFF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422775" lvl="1">
              <a:lnSpc>
                <a:spcPts val="4543"/>
              </a:lnSpc>
            </a:pPr>
            <a:r>
              <a:rPr lang="en-US" sz="3916" b="1" dirty="0" smtClean="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Not always accurate in small places like farms</a:t>
            </a:r>
            <a:r>
              <a:rPr lang="en-US" sz="3916" b="1" dirty="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lang="en-US" sz="3916" b="1" dirty="0" smtClean="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and indoor at homes and there is no real-time updates also it cannot </a:t>
            </a:r>
            <a:r>
              <a:rPr lang="en-US" sz="3916" b="1" dirty="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be accessed </a:t>
            </a:r>
            <a:r>
              <a:rPr lang="en-US" sz="3916" b="1" dirty="0" smtClean="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remotely</a:t>
            </a:r>
            <a:endParaRPr lang="en-US" sz="3916" b="1" dirty="0">
              <a:solidFill>
                <a:srgbClr val="FFFFFF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algn="ctr">
              <a:lnSpc>
                <a:spcPts val="3671"/>
              </a:lnSpc>
              <a:spcBef>
                <a:spcPct val="0"/>
              </a:spcBef>
            </a:pPr>
            <a:endParaRPr lang="en-US" sz="3916" b="1" dirty="0">
              <a:solidFill>
                <a:srgbClr val="FFFFFF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0742067" y="-3314700"/>
            <a:ext cx="16235139" cy="16235139"/>
          </a:xfrm>
          <a:custGeom>
            <a:avLst/>
            <a:gdLst/>
            <a:ahLst/>
            <a:cxnLst/>
            <a:rect l="l" t="t" r="r" b="b"/>
            <a:pathLst>
              <a:path w="16235139" h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6802847" y="9074087"/>
            <a:ext cx="365153" cy="347891"/>
          </a:xfrm>
          <a:custGeom>
            <a:avLst/>
            <a:gdLst/>
            <a:ahLst/>
            <a:cxnLst/>
            <a:rect l="l" t="t" r="r" b="b"/>
            <a:pathLst>
              <a:path w="365153" h="347891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8669610" y="3073227"/>
            <a:ext cx="13199814" cy="5627536"/>
          </a:xfrm>
          <a:custGeom>
            <a:avLst/>
            <a:gdLst/>
            <a:ahLst/>
            <a:cxnLst/>
            <a:rect l="l" t="t" r="r" b="b"/>
            <a:pathLst>
              <a:path w="13199814" h="5627536">
                <a:moveTo>
                  <a:pt x="13199814" y="0"/>
                </a:moveTo>
                <a:lnTo>
                  <a:pt x="0" y="0"/>
                </a:lnTo>
                <a:lnTo>
                  <a:pt x="0" y="5627536"/>
                </a:lnTo>
                <a:lnTo>
                  <a:pt x="13199814" y="5627536"/>
                </a:lnTo>
                <a:lnTo>
                  <a:pt x="13199814" y="0"/>
                </a:lnTo>
                <a:close/>
              </a:path>
            </a:pathLst>
          </a:custGeom>
          <a:blipFill>
            <a:blip r:embed="rId5">
              <a:alphaModFix amt="43999"/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6030363" y="896714"/>
            <a:ext cx="2680687" cy="897724"/>
            <a:chOff x="0" y="0"/>
            <a:chExt cx="706025" cy="2364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06025" cy="236438"/>
            </a:xfrm>
            <a:custGeom>
              <a:avLst/>
              <a:gdLst/>
              <a:ahLst/>
              <a:cxnLst/>
              <a:rect l="l" t="t" r="r" b="b"/>
              <a:pathLst>
                <a:path w="706025" h="236438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630080" y="1189894"/>
            <a:ext cx="822214" cy="291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  <a:spcBef>
                <a:spcPct val="0"/>
              </a:spcBef>
            </a:pPr>
            <a:r>
              <a:rPr lang="en-US" sz="1920" b="1" spc="199" dirty="0" smtClean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04/18</a:t>
            </a:r>
            <a:endParaRPr lang="en-US" sz="1920" b="1" spc="199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447842" y="3553773"/>
            <a:ext cx="5933544" cy="1740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3653"/>
              </a:lnSpc>
              <a:spcBef>
                <a:spcPct val="0"/>
              </a:spcBef>
            </a:pPr>
            <a:r>
              <a:rPr lang="en-US" sz="11770" b="1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 PROPOSED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47842" y="5040763"/>
            <a:ext cx="6537581" cy="1740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3653"/>
              </a:lnSpc>
              <a:spcBef>
                <a:spcPct val="0"/>
              </a:spcBef>
            </a:pPr>
            <a:r>
              <a:rPr lang="en-US" sz="11770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SOLUTION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0944" y="3001658"/>
            <a:ext cx="9936897" cy="3744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11"/>
              </a:lnSpc>
            </a:pPr>
            <a:r>
              <a:rPr lang="en-US" sz="3372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An </a:t>
            </a:r>
            <a:r>
              <a:rPr lang="en-US" sz="3372" dirty="0" err="1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IoT</a:t>
            </a:r>
            <a:r>
              <a:rPr lang="en-US" sz="3372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-based weather </a:t>
            </a:r>
            <a:r>
              <a:rPr lang="en-US" sz="3372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monitoring system that:</a:t>
            </a:r>
          </a:p>
          <a:p>
            <a:pPr marL="878383" lvl="1" indent="-514350" algn="l">
              <a:lnSpc>
                <a:spcPts val="3911"/>
              </a:lnSpc>
              <a:buFont typeface="+mj-lt"/>
              <a:buAutoNum type="arabicPeriod"/>
            </a:pPr>
            <a:r>
              <a:rPr lang="en-US" sz="3372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Collects data automatically</a:t>
            </a:r>
          </a:p>
          <a:p>
            <a:pPr marL="878383" lvl="1" indent="-514350" algn="l">
              <a:lnSpc>
                <a:spcPts val="3911"/>
              </a:lnSpc>
              <a:buFont typeface="+mj-lt"/>
              <a:buAutoNum type="arabicPeriod"/>
            </a:pPr>
            <a:r>
              <a:rPr lang="en-US" sz="3372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Sends readings to the cloud</a:t>
            </a:r>
          </a:p>
          <a:p>
            <a:pPr marL="878383" lvl="1" indent="-514350" algn="l">
              <a:lnSpc>
                <a:spcPts val="3911"/>
              </a:lnSpc>
              <a:buFont typeface="+mj-lt"/>
              <a:buAutoNum type="arabicPeriod"/>
            </a:pPr>
            <a:r>
              <a:rPr lang="en-US" sz="3372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Shows real-time graphs online</a:t>
            </a:r>
          </a:p>
          <a:p>
            <a:pPr marL="878383" lvl="1" indent="-514350" algn="l">
              <a:lnSpc>
                <a:spcPts val="3911"/>
              </a:lnSpc>
              <a:buFont typeface="+mj-lt"/>
              <a:buAutoNum type="arabicPeriod"/>
            </a:pPr>
            <a:r>
              <a:rPr lang="en-US" sz="3372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Works remotely from anywhere</a:t>
            </a:r>
          </a:p>
          <a:p>
            <a:pPr marL="878383" lvl="1" indent="-514350" algn="l">
              <a:lnSpc>
                <a:spcPts val="3911"/>
              </a:lnSpc>
              <a:buFont typeface="+mj-lt"/>
              <a:buAutoNum type="arabicPeriod"/>
            </a:pPr>
            <a:r>
              <a:rPr lang="en-US" sz="3372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Accurate at results in small places</a:t>
            </a:r>
            <a:endParaRPr lang="en-US" sz="3372" dirty="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l">
              <a:lnSpc>
                <a:spcPts val="5612"/>
              </a:lnSpc>
              <a:spcBef>
                <a:spcPct val="0"/>
              </a:spcBef>
            </a:pPr>
            <a:endParaRPr lang="en-US" sz="3372" dirty="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1676400" y="1393294"/>
            <a:ext cx="1148007" cy="1148007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905000" y="6132299"/>
            <a:ext cx="1148007" cy="1148007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428561" y="3575588"/>
            <a:ext cx="1148007" cy="1148007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0742067" y="-3151841"/>
            <a:ext cx="16235139" cy="16235139"/>
          </a:xfrm>
          <a:custGeom>
            <a:avLst/>
            <a:gdLst/>
            <a:ahLst/>
            <a:cxnLst/>
            <a:rect l="l" t="t" r="r" b="b"/>
            <a:pathLst>
              <a:path w="16235139" h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6802847" y="9074087"/>
            <a:ext cx="365153" cy="347891"/>
          </a:xfrm>
          <a:custGeom>
            <a:avLst/>
            <a:gdLst/>
            <a:ahLst/>
            <a:cxnLst/>
            <a:rect l="l" t="t" r="r" b="b"/>
            <a:pathLst>
              <a:path w="365153" h="347891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22301" y="1673606"/>
            <a:ext cx="4508599" cy="5246370"/>
            <a:chOff x="0" y="0"/>
            <a:chExt cx="6985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5"/>
              <a:stretch>
                <a:fillRect l="-31769" r="-31769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3814527" y="1028700"/>
            <a:ext cx="1678544" cy="1953215"/>
            <a:chOff x="0" y="0"/>
            <a:chExt cx="6985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6"/>
              <a:stretch>
                <a:fillRect l="-34520" r="-34520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3626615" y="5711768"/>
            <a:ext cx="1678544" cy="1953215"/>
            <a:chOff x="0" y="0"/>
            <a:chExt cx="6985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7"/>
              <a:stretch>
                <a:fillRect l="-61087" r="-61087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-563487" y="5711768"/>
            <a:ext cx="1790091" cy="2083015"/>
            <a:chOff x="0" y="0"/>
            <a:chExt cx="6985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9B9B9B">
                    <a:alpha val="12000"/>
                  </a:srgbClr>
                </a:gs>
              </a:gsLst>
              <a:lin ang="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120650"/>
              <a:ext cx="698500" cy="552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030363" y="896714"/>
            <a:ext cx="2680687" cy="897724"/>
            <a:chOff x="0" y="0"/>
            <a:chExt cx="706025" cy="23643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06025" cy="236438"/>
            </a:xfrm>
            <a:custGeom>
              <a:avLst/>
              <a:gdLst/>
              <a:ahLst/>
              <a:cxnLst/>
              <a:rect l="l" t="t" r="r" b="b"/>
              <a:pathLst>
                <a:path w="706025" h="236438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066351" y="2005308"/>
            <a:ext cx="666614" cy="666614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066351" y="4114492"/>
            <a:ext cx="666614" cy="66661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066351" y="6253362"/>
            <a:ext cx="666614" cy="666614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6630080" y="1189894"/>
            <a:ext cx="822214" cy="291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  <a:spcBef>
                <a:spcPct val="0"/>
              </a:spcBef>
            </a:pPr>
            <a:r>
              <a:rPr lang="en-US" sz="1920" b="1" spc="199" dirty="0" smtClean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05/18</a:t>
            </a:r>
            <a:endParaRPr lang="en-US" sz="1920" b="1" spc="199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4465887" y="171109"/>
            <a:ext cx="11919052" cy="1489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53"/>
              </a:lnSpc>
              <a:spcBef>
                <a:spcPct val="0"/>
              </a:spcBef>
            </a:pPr>
            <a:r>
              <a:rPr lang="en-US" sz="10046" dirty="0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 WHY </a:t>
            </a:r>
            <a:r>
              <a:rPr lang="en-US" sz="10046" dirty="0" smtClean="0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OUR </a:t>
            </a:r>
            <a:r>
              <a:rPr lang="en-US" sz="10046" dirty="0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SOLUTION WORKS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399658" y="2024358"/>
            <a:ext cx="10461749" cy="7040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34590" lvl="1" indent="-567295" algn="l">
              <a:lnSpc>
                <a:spcPts val="6095"/>
              </a:lnSpc>
              <a:buFont typeface="Arial"/>
              <a:buChar char="•"/>
            </a:pPr>
            <a:r>
              <a:rPr lang="en-US" sz="5255" b="1" dirty="0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Uses </a:t>
            </a:r>
            <a:r>
              <a:rPr lang="en-US" sz="5255" b="1" dirty="0" err="1" smtClean="0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WiFi</a:t>
            </a:r>
            <a:r>
              <a:rPr lang="en-US" sz="5255" b="1" dirty="0" smtClean="0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-integrated microcontroller </a:t>
            </a:r>
            <a:r>
              <a:rPr lang="en-US" sz="5255" b="1" dirty="0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(</a:t>
            </a:r>
            <a:r>
              <a:rPr lang="en-US" sz="5255" b="1" dirty="0" err="1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NodeMCU</a:t>
            </a:r>
            <a:r>
              <a:rPr lang="en-US" sz="5255" b="1" dirty="0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)</a:t>
            </a:r>
          </a:p>
          <a:p>
            <a:pPr marL="1134590" lvl="1" indent="-567295" algn="l">
              <a:lnSpc>
                <a:spcPts val="6095"/>
              </a:lnSpc>
              <a:buFont typeface="Arial"/>
              <a:buChar char="•"/>
            </a:pPr>
            <a:r>
              <a:rPr lang="en-US" sz="5255" b="1" dirty="0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Cloud </a:t>
            </a:r>
            <a:r>
              <a:rPr lang="en-US" sz="5255" b="1" dirty="0" smtClean="0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platform that </a:t>
            </a:r>
            <a:r>
              <a:rPr lang="en-US" sz="5255" b="1" dirty="0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automatically stores data</a:t>
            </a:r>
          </a:p>
          <a:p>
            <a:pPr marL="1134590" lvl="1" indent="-567295" algn="l">
              <a:lnSpc>
                <a:spcPts val="6095"/>
              </a:lnSpc>
              <a:buFont typeface="Arial"/>
              <a:buChar char="•"/>
            </a:pPr>
            <a:r>
              <a:rPr lang="en-US" sz="5255" b="1" dirty="0" smtClean="0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Sensors </a:t>
            </a:r>
            <a:r>
              <a:rPr lang="en-US" sz="5255" b="1" dirty="0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readings update every few seconds</a:t>
            </a:r>
          </a:p>
          <a:p>
            <a:pPr marL="1134590" lvl="1" indent="-567295" algn="l">
              <a:lnSpc>
                <a:spcPts val="6095"/>
              </a:lnSpc>
              <a:buFont typeface="Arial"/>
              <a:buChar char="•"/>
            </a:pPr>
            <a:r>
              <a:rPr lang="en-US" sz="5255" b="1" dirty="0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User can access data anytime, anywhere</a:t>
            </a:r>
          </a:p>
          <a:p>
            <a:pPr algn="l">
              <a:lnSpc>
                <a:spcPts val="6095"/>
              </a:lnSpc>
              <a:spcBef>
                <a:spcPct val="0"/>
              </a:spcBef>
            </a:pPr>
            <a:endParaRPr lang="en-US" sz="5255" b="1" dirty="0">
              <a:solidFill>
                <a:srgbClr val="FFFFFF"/>
              </a:solidFill>
              <a:latin typeface="Raleway Ultra-Bold"/>
              <a:ea typeface="Raleway Ultra-Bold"/>
              <a:cs typeface="Raleway Ultra-Bold"/>
              <a:sym typeface="Raleway Ultra-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64795" y="2051882"/>
            <a:ext cx="5790071" cy="1717844"/>
            <a:chOff x="0" y="0"/>
            <a:chExt cx="1929913" cy="5725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29913" cy="572582"/>
            </a:xfrm>
            <a:custGeom>
              <a:avLst/>
              <a:gdLst/>
              <a:ahLst/>
              <a:cxnLst/>
              <a:rect l="l" t="t" r="r" b="b"/>
              <a:pathLst>
                <a:path w="1929913" h="572582">
                  <a:moveTo>
                    <a:pt x="0" y="0"/>
                  </a:moveTo>
                  <a:lnTo>
                    <a:pt x="1929913" y="0"/>
                  </a:lnTo>
                  <a:lnTo>
                    <a:pt x="1929913" y="572582"/>
                  </a:lnTo>
                  <a:lnTo>
                    <a:pt x="0" y="572582"/>
                  </a:lnTo>
                  <a:close/>
                </a:path>
              </a:pathLst>
            </a:custGeom>
            <a:solidFill>
              <a:srgbClr val="00BBDE">
                <a:alpha val="3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929913" cy="5916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8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flipH="1">
            <a:off x="-10828474" y="-3403001"/>
            <a:ext cx="16235139" cy="16235139"/>
          </a:xfrm>
          <a:custGeom>
            <a:avLst/>
            <a:gdLst/>
            <a:ahLst/>
            <a:cxnLst/>
            <a:rect l="l" t="t" r="r" b="b"/>
            <a:pathLst>
              <a:path w="16235139" h="16235139">
                <a:moveTo>
                  <a:pt x="16235139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9" y="16235139"/>
                </a:lnTo>
                <a:lnTo>
                  <a:pt x="16235139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6802847" y="9074087"/>
            <a:ext cx="365153" cy="347891"/>
          </a:xfrm>
          <a:custGeom>
            <a:avLst/>
            <a:gdLst/>
            <a:ahLst/>
            <a:cxnLst/>
            <a:rect l="l" t="t" r="r" b="b"/>
            <a:pathLst>
              <a:path w="365153" h="347891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6030363" y="896714"/>
            <a:ext cx="2680687" cy="897724"/>
            <a:chOff x="0" y="0"/>
            <a:chExt cx="706025" cy="23643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06025" cy="236438"/>
            </a:xfrm>
            <a:custGeom>
              <a:avLst/>
              <a:gdLst/>
              <a:ahLst/>
              <a:cxnLst/>
              <a:rect l="l" t="t" r="r" b="b"/>
              <a:pathLst>
                <a:path w="706025" h="236438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6630080" y="1189894"/>
            <a:ext cx="822214" cy="291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  <a:spcBef>
                <a:spcPct val="0"/>
              </a:spcBef>
            </a:pPr>
            <a:r>
              <a:rPr lang="en-US" sz="1920" b="1" spc="199" dirty="0" smtClean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06/18</a:t>
            </a:r>
            <a:endParaRPr lang="en-US" sz="1920" b="1" spc="199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432665" y="253955"/>
            <a:ext cx="11602556" cy="1540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056"/>
              </a:lnSpc>
              <a:spcBef>
                <a:spcPct val="0"/>
              </a:spcBef>
            </a:pPr>
            <a:r>
              <a:rPr lang="en-US" sz="10393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HARDWARE COMPONENTS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489923" y="2693938"/>
            <a:ext cx="3948001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49"/>
              </a:lnSpc>
              <a:spcBef>
                <a:spcPct val="0"/>
              </a:spcBef>
            </a:pPr>
            <a:r>
              <a:rPr lang="en-US" sz="1594" b="1" dirty="0" smtClean="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It’s a very important sensor that reads </a:t>
            </a:r>
            <a:r>
              <a:rPr lang="en-US" sz="1594" b="1" dirty="0" err="1" smtClean="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tempreture</a:t>
            </a:r>
            <a:r>
              <a:rPr lang="en-US" sz="1594" b="1" dirty="0" smtClean="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and humidity and also can calculate heat index using both </a:t>
            </a:r>
            <a:r>
              <a:rPr lang="en-US" sz="1594" b="1" dirty="0" err="1" smtClean="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tempreture</a:t>
            </a:r>
            <a:r>
              <a:rPr lang="en-US" sz="1594" b="1" dirty="0" smtClean="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and humidity</a:t>
            </a:r>
            <a:endParaRPr lang="en-US" sz="1594" b="1" dirty="0">
              <a:solidFill>
                <a:srgbClr val="FFFFFF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372135" y="2213794"/>
            <a:ext cx="2541076" cy="325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6"/>
              </a:lnSpc>
              <a:spcBef>
                <a:spcPct val="0"/>
              </a:spcBef>
            </a:pPr>
            <a:r>
              <a:rPr lang="en-US" sz="2117" b="1" dirty="0" smtClean="0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DHT 11 Sensor</a:t>
            </a:r>
            <a:endParaRPr lang="en-US" sz="2117" b="1" dirty="0">
              <a:solidFill>
                <a:srgbClr val="FFFFFF"/>
              </a:solidFill>
              <a:latin typeface="Raleway Ultra-Bold"/>
              <a:ea typeface="Raleway Ultra-Bold"/>
              <a:cs typeface="Raleway Ultra-Bold"/>
              <a:sym typeface="Raleway Ultra-Bold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1964795" y="7356243"/>
            <a:ext cx="5829722" cy="1717844"/>
            <a:chOff x="0" y="0"/>
            <a:chExt cx="1943129" cy="57258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43129" cy="572582"/>
            </a:xfrm>
            <a:custGeom>
              <a:avLst/>
              <a:gdLst/>
              <a:ahLst/>
              <a:cxnLst/>
              <a:rect l="l" t="t" r="r" b="b"/>
              <a:pathLst>
                <a:path w="1943129" h="572582">
                  <a:moveTo>
                    <a:pt x="0" y="0"/>
                  </a:moveTo>
                  <a:lnTo>
                    <a:pt x="1943129" y="0"/>
                  </a:lnTo>
                  <a:lnTo>
                    <a:pt x="1943129" y="572582"/>
                  </a:lnTo>
                  <a:lnTo>
                    <a:pt x="0" y="572582"/>
                  </a:lnTo>
                  <a:close/>
                </a:path>
              </a:pathLst>
            </a:custGeom>
            <a:solidFill>
              <a:srgbClr val="00BBDE">
                <a:alpha val="3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1943129" cy="5916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8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2709377" y="7955755"/>
            <a:ext cx="3987652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49"/>
              </a:lnSpc>
              <a:spcBef>
                <a:spcPct val="0"/>
              </a:spcBef>
            </a:pPr>
            <a:r>
              <a:rPr lang="en-US" sz="1594" b="1" dirty="0" smtClean="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 Barometric Pressure and Altitude Sensor that is very helpful in our project</a:t>
            </a:r>
            <a:endParaRPr lang="en-US" sz="1594" b="1" dirty="0">
              <a:solidFill>
                <a:srgbClr val="FFFFFF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2522652" y="7450955"/>
            <a:ext cx="2478300" cy="325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6"/>
              </a:lnSpc>
              <a:spcBef>
                <a:spcPct val="0"/>
              </a:spcBef>
            </a:pPr>
            <a:r>
              <a:rPr lang="en-US" sz="2117" b="1" dirty="0" smtClean="0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BMP 180 Sensor</a:t>
            </a:r>
            <a:endParaRPr lang="en-US" sz="2117" b="1" dirty="0">
              <a:solidFill>
                <a:srgbClr val="FFFFFF"/>
              </a:solidFill>
              <a:latin typeface="Raleway Ultra-Bold"/>
              <a:ea typeface="Raleway Ultra-Bold"/>
              <a:cs typeface="Raleway Ultra-Bold"/>
              <a:sym typeface="Raleway Ultra-Bold"/>
            </a:endParaRPr>
          </a:p>
        </p:txBody>
      </p:sp>
      <p:grpSp>
        <p:nvGrpSpPr>
          <p:cNvPr id="27" name="Group 27"/>
          <p:cNvGrpSpPr/>
          <p:nvPr/>
        </p:nvGrpSpPr>
        <p:grpSpPr>
          <a:xfrm>
            <a:off x="10840009" y="1994729"/>
            <a:ext cx="5790071" cy="1717844"/>
            <a:chOff x="0" y="0"/>
            <a:chExt cx="1929913" cy="57258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929913" cy="572582"/>
            </a:xfrm>
            <a:custGeom>
              <a:avLst/>
              <a:gdLst/>
              <a:ahLst/>
              <a:cxnLst/>
              <a:rect l="l" t="t" r="r" b="b"/>
              <a:pathLst>
                <a:path w="1929913" h="572582">
                  <a:moveTo>
                    <a:pt x="0" y="0"/>
                  </a:moveTo>
                  <a:lnTo>
                    <a:pt x="1929913" y="0"/>
                  </a:lnTo>
                  <a:lnTo>
                    <a:pt x="1929913" y="572582"/>
                  </a:lnTo>
                  <a:lnTo>
                    <a:pt x="0" y="572582"/>
                  </a:lnTo>
                  <a:close/>
                </a:path>
              </a:pathLst>
            </a:custGeom>
            <a:solidFill>
              <a:srgbClr val="00BBDE">
                <a:alpha val="3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1929913" cy="5916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8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875959" y="2626903"/>
            <a:ext cx="4212909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49"/>
              </a:lnSpc>
              <a:spcBef>
                <a:spcPct val="0"/>
              </a:spcBef>
            </a:pPr>
            <a:r>
              <a:rPr lang="en-US" sz="1594" b="1" dirty="0" smtClean="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 Board that we used for </a:t>
            </a:r>
            <a:r>
              <a:rPr lang="en-US" sz="1594" b="1" dirty="0" err="1" smtClean="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assimbling</a:t>
            </a:r>
            <a:r>
              <a:rPr lang="en-US" sz="1594" b="1" dirty="0" smtClean="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our project and connect it with each other</a:t>
            </a:r>
            <a:endParaRPr lang="en-US" sz="1594" b="1" dirty="0">
              <a:solidFill>
                <a:srgbClr val="FFFFFF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grpSp>
        <p:nvGrpSpPr>
          <p:cNvPr id="35" name="Group 35"/>
          <p:cNvGrpSpPr/>
          <p:nvPr/>
        </p:nvGrpSpPr>
        <p:grpSpPr>
          <a:xfrm>
            <a:off x="11430000" y="7168260"/>
            <a:ext cx="5829722" cy="1717844"/>
            <a:chOff x="0" y="0"/>
            <a:chExt cx="1943129" cy="57258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943129" cy="572582"/>
            </a:xfrm>
            <a:custGeom>
              <a:avLst/>
              <a:gdLst/>
              <a:ahLst/>
              <a:cxnLst/>
              <a:rect l="l" t="t" r="r" b="b"/>
              <a:pathLst>
                <a:path w="1943129" h="572582">
                  <a:moveTo>
                    <a:pt x="0" y="0"/>
                  </a:moveTo>
                  <a:lnTo>
                    <a:pt x="1943129" y="0"/>
                  </a:lnTo>
                  <a:lnTo>
                    <a:pt x="1943129" y="572582"/>
                  </a:lnTo>
                  <a:lnTo>
                    <a:pt x="0" y="572582"/>
                  </a:lnTo>
                  <a:close/>
                </a:path>
              </a:pathLst>
            </a:custGeom>
            <a:solidFill>
              <a:srgbClr val="00BBDE">
                <a:alpha val="3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19050"/>
              <a:ext cx="1943129" cy="5916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8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2057063" y="7777004"/>
            <a:ext cx="3987652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49"/>
              </a:lnSpc>
              <a:spcBef>
                <a:spcPct val="0"/>
              </a:spcBef>
            </a:pPr>
            <a:r>
              <a:rPr lang="en-US" sz="1594" b="1" dirty="0" smtClean="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 very helpful sensor that is been able to tell us whether there is rain or not</a:t>
            </a:r>
            <a:endParaRPr lang="en-US" sz="1594" b="1" dirty="0">
              <a:solidFill>
                <a:srgbClr val="FFFFFF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1847824" y="7356243"/>
            <a:ext cx="5398375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56"/>
              </a:lnSpc>
              <a:spcBef>
                <a:spcPct val="0"/>
              </a:spcBef>
            </a:pPr>
            <a:r>
              <a:rPr lang="en-US" sz="2117" b="1" dirty="0" smtClean="0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Rain Drop module and water sensor</a:t>
            </a:r>
            <a:endParaRPr lang="en-US" sz="2117" b="1" dirty="0">
              <a:solidFill>
                <a:srgbClr val="FFFFFF"/>
              </a:solidFill>
              <a:latin typeface="Raleway Ultra-Bold"/>
              <a:ea typeface="Raleway Ultra-Bold"/>
              <a:cs typeface="Raleway Ultra-Bold"/>
              <a:sym typeface="Raleway Ultra-Bold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1650045" y="2064057"/>
            <a:ext cx="4394670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56"/>
              </a:lnSpc>
              <a:spcBef>
                <a:spcPct val="0"/>
              </a:spcBef>
            </a:pPr>
            <a:r>
              <a:rPr lang="en-US" sz="2117" b="1" dirty="0" err="1" smtClean="0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BreadBoard</a:t>
            </a:r>
            <a:endParaRPr lang="en-US" sz="2117" b="1" dirty="0">
              <a:solidFill>
                <a:srgbClr val="FFFFFF"/>
              </a:solidFill>
              <a:latin typeface="Raleway Ultra-Bold"/>
              <a:ea typeface="Raleway Ultra-Bold"/>
              <a:cs typeface="Raleway Ultra-Bold"/>
              <a:sym typeface="Raleway Ultra-Bold"/>
            </a:endParaRP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61" y="1682079"/>
            <a:ext cx="2057400" cy="235131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984944"/>
            <a:ext cx="2337523" cy="233752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7392" y="6800475"/>
            <a:ext cx="2273612" cy="227361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350" y="4254500"/>
            <a:ext cx="5827713" cy="177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8" name="TextBox 47"/>
          <p:cNvSpPr txBox="1"/>
          <p:nvPr/>
        </p:nvSpPr>
        <p:spPr>
          <a:xfrm>
            <a:off x="6697029" y="4377474"/>
            <a:ext cx="335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Raleway Ultra-Bold" charset="0"/>
              </a:rPr>
              <a:t>Node </a:t>
            </a:r>
            <a:r>
              <a:rPr lang="en-US" sz="2000" dirty="0" err="1" smtClean="0">
                <a:solidFill>
                  <a:schemeClr val="bg1"/>
                </a:solidFill>
                <a:latin typeface="Raleway Ultra-Bold" charset="0"/>
              </a:rPr>
              <a:t>Mcu</a:t>
            </a:r>
            <a:r>
              <a:rPr lang="en-US" sz="2000" dirty="0" smtClean="0">
                <a:solidFill>
                  <a:schemeClr val="bg1"/>
                </a:solidFill>
                <a:latin typeface="Raleway Ultra-Bold" charset="0"/>
              </a:rPr>
              <a:t> ESP8266</a:t>
            </a:r>
            <a:endParaRPr lang="en-US" sz="2000" dirty="0">
              <a:solidFill>
                <a:schemeClr val="bg1"/>
              </a:solidFill>
              <a:latin typeface="Raleway Ultra-Bold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951829" y="4816247"/>
            <a:ext cx="48959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aleway Ultra-Bold" charset="0"/>
              </a:rPr>
              <a:t>It’s the brain of our project because it </a:t>
            </a:r>
            <a:r>
              <a:rPr lang="en-US" sz="1600" dirty="0" err="1" smtClean="0">
                <a:solidFill>
                  <a:schemeClr val="bg1"/>
                </a:solidFill>
                <a:latin typeface="Raleway Ultra-Bold" charset="0"/>
              </a:rPr>
              <a:t>controlles</a:t>
            </a:r>
            <a:r>
              <a:rPr lang="en-US" sz="1600" dirty="0" smtClean="0">
                <a:solidFill>
                  <a:schemeClr val="bg1"/>
                </a:solidFill>
                <a:latin typeface="Raleway Ultra-Bold" charset="0"/>
              </a:rPr>
              <a:t> every thing it’s a low cost ,</a:t>
            </a:r>
            <a:r>
              <a:rPr lang="en-US" sz="1600" dirty="0" err="1" smtClean="0">
                <a:solidFill>
                  <a:schemeClr val="bg1"/>
                </a:solidFill>
                <a:latin typeface="Raleway Ultra-Bold" charset="0"/>
              </a:rPr>
              <a:t>wifi</a:t>
            </a:r>
            <a:r>
              <a:rPr lang="en-US" sz="1600" dirty="0" smtClean="0">
                <a:solidFill>
                  <a:schemeClr val="bg1"/>
                </a:solidFill>
                <a:latin typeface="Raleway Ultra-Bold" charset="0"/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  <a:latin typeface="Raleway Ultra-Bold" charset="0"/>
              </a:rPr>
              <a:t>integreated</a:t>
            </a:r>
            <a:r>
              <a:rPr lang="en-US" sz="1600" dirty="0" smtClean="0">
                <a:solidFill>
                  <a:schemeClr val="bg1"/>
                </a:solidFill>
                <a:latin typeface="Raleway Ultra-Bold" charset="0"/>
              </a:rPr>
              <a:t> microcontroller</a:t>
            </a:r>
            <a:endParaRPr lang="en-US" sz="1600" dirty="0">
              <a:solidFill>
                <a:schemeClr val="bg1"/>
              </a:solidFill>
              <a:latin typeface="Raleway Ultra-Bold" charset="0"/>
            </a:endParaRPr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923" y="4228802"/>
            <a:ext cx="2437606" cy="182820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3943" y="1690871"/>
            <a:ext cx="2160270" cy="216027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0742067" y="-3151841"/>
            <a:ext cx="16235139" cy="16235139"/>
          </a:xfrm>
          <a:custGeom>
            <a:avLst/>
            <a:gdLst/>
            <a:ahLst/>
            <a:cxnLst/>
            <a:rect l="l" t="t" r="r" b="b"/>
            <a:pathLst>
              <a:path w="16235139" h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6802847" y="9074087"/>
            <a:ext cx="365153" cy="347891"/>
          </a:xfrm>
          <a:custGeom>
            <a:avLst/>
            <a:gdLst/>
            <a:ahLst/>
            <a:cxnLst/>
            <a:rect l="l" t="t" r="r" b="b"/>
            <a:pathLst>
              <a:path w="365153" h="347891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787385" y="2249663"/>
            <a:ext cx="4485957" cy="7172315"/>
          </a:xfrm>
          <a:custGeom>
            <a:avLst/>
            <a:gdLst/>
            <a:ahLst/>
            <a:cxnLst/>
            <a:rect l="l" t="t" r="r" b="b"/>
            <a:pathLst>
              <a:path w="4485957" h="7172315">
                <a:moveTo>
                  <a:pt x="0" y="0"/>
                </a:moveTo>
                <a:lnTo>
                  <a:pt x="4485956" y="0"/>
                </a:lnTo>
                <a:lnTo>
                  <a:pt x="4485956" y="7172315"/>
                </a:lnTo>
                <a:lnTo>
                  <a:pt x="0" y="71723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988618" y="2753897"/>
            <a:ext cx="4299382" cy="5940216"/>
            <a:chOff x="0" y="0"/>
            <a:chExt cx="666087" cy="92029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6087" cy="920295"/>
            </a:xfrm>
            <a:custGeom>
              <a:avLst/>
              <a:gdLst/>
              <a:ahLst/>
              <a:cxnLst/>
              <a:rect l="l" t="t" r="r" b="b"/>
              <a:pathLst>
                <a:path w="666087" h="920295">
                  <a:moveTo>
                    <a:pt x="0" y="0"/>
                  </a:moveTo>
                  <a:lnTo>
                    <a:pt x="666087" y="0"/>
                  </a:lnTo>
                  <a:lnTo>
                    <a:pt x="666087" y="920295"/>
                  </a:lnTo>
                  <a:lnTo>
                    <a:pt x="0" y="920295"/>
                  </a:lnTo>
                  <a:close/>
                </a:path>
              </a:pathLst>
            </a:custGeom>
            <a:blipFill>
              <a:blip r:embed="rId7"/>
              <a:stretch>
                <a:fillRect l="-60158" r="-60158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6030363" y="896714"/>
            <a:ext cx="2680687" cy="897724"/>
            <a:chOff x="0" y="0"/>
            <a:chExt cx="706025" cy="23643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06025" cy="236438"/>
            </a:xfrm>
            <a:custGeom>
              <a:avLst/>
              <a:gdLst/>
              <a:ahLst/>
              <a:cxnLst/>
              <a:rect l="l" t="t" r="r" b="b"/>
              <a:pathLst>
                <a:path w="706025" h="236438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72913" y="3506148"/>
            <a:ext cx="666614" cy="66661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72913" y="5682589"/>
            <a:ext cx="666614" cy="666614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414614" y="3845131"/>
            <a:ext cx="1148007" cy="1148007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6630080" y="1189894"/>
            <a:ext cx="822214" cy="291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  <a:spcBef>
                <a:spcPct val="0"/>
              </a:spcBef>
            </a:pPr>
            <a:r>
              <a:rPr lang="en-US" sz="1920" b="1" spc="199" dirty="0" smtClean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07/18</a:t>
            </a:r>
            <a:endParaRPr lang="en-US" sz="1920" b="1" spc="199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253489" y="284751"/>
            <a:ext cx="12881555" cy="1676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3073"/>
              </a:lnSpc>
              <a:spcBef>
                <a:spcPct val="0"/>
              </a:spcBef>
            </a:pPr>
            <a:r>
              <a:rPr lang="en-US" sz="11270" dirty="0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 SOFTWARE </a:t>
            </a:r>
            <a:r>
              <a:rPr lang="en-US" sz="11270" dirty="0" smtClean="0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USED</a:t>
            </a:r>
            <a:endParaRPr lang="en-US" sz="11270" dirty="0">
              <a:solidFill>
                <a:srgbClr val="FFFFFF"/>
              </a:solidFill>
              <a:latin typeface="Antonio Light"/>
              <a:ea typeface="Antonio Light"/>
              <a:cs typeface="Antonio Light"/>
              <a:sym typeface="Antonio Light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472048" y="3009900"/>
            <a:ext cx="11942565" cy="3526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98024" lvl="1" indent="-685800" algn="l">
              <a:lnSpc>
                <a:spcPts val="5504"/>
              </a:lnSpc>
              <a:buFont typeface="Arial" pitchFamily="34" charset="0"/>
              <a:buChar char="•"/>
            </a:pPr>
            <a:r>
              <a:rPr lang="en-US" sz="4745" b="1" dirty="0" err="1" smtClean="0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Arduino</a:t>
            </a:r>
            <a:r>
              <a:rPr lang="en-US" sz="4745" b="1" dirty="0" smtClean="0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 </a:t>
            </a:r>
            <a:r>
              <a:rPr lang="en-US" sz="4745" b="1" dirty="0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IDE — for coding and uploading the program</a:t>
            </a:r>
          </a:p>
          <a:p>
            <a:pPr marL="1024448" lvl="1" indent="-512224" algn="l">
              <a:lnSpc>
                <a:spcPts val="5504"/>
              </a:lnSpc>
              <a:buFont typeface="Arial"/>
              <a:buChar char="•"/>
            </a:pPr>
            <a:r>
              <a:rPr lang="en-US" sz="4745" b="1" dirty="0" err="1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ThingSpeak</a:t>
            </a:r>
            <a:r>
              <a:rPr lang="en-US" sz="4745" b="1" dirty="0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 Cloud Platform — for storing and visualizing data</a:t>
            </a:r>
          </a:p>
          <a:p>
            <a:pPr algn="l">
              <a:lnSpc>
                <a:spcPts val="5504"/>
              </a:lnSpc>
              <a:spcBef>
                <a:spcPct val="0"/>
              </a:spcBef>
            </a:pPr>
            <a:endParaRPr lang="en-US" sz="4745" b="1" dirty="0">
              <a:solidFill>
                <a:srgbClr val="FFFFFF"/>
              </a:solidFill>
              <a:latin typeface="Raleway Ultra-Bold"/>
              <a:ea typeface="Raleway Ultra-Bold"/>
              <a:cs typeface="Raleway Ultra-Bold"/>
              <a:sym typeface="Raleway Ultra-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3496417" y="-905477"/>
            <a:ext cx="16235139" cy="16235139"/>
          </a:xfrm>
          <a:custGeom>
            <a:avLst/>
            <a:gdLst/>
            <a:ahLst/>
            <a:cxnLst/>
            <a:rect l="l" t="t" r="r" b="b"/>
            <a:pathLst>
              <a:path w="16235139" h="16235139">
                <a:moveTo>
                  <a:pt x="16235139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9" y="16235139"/>
                </a:lnTo>
                <a:lnTo>
                  <a:pt x="16235139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6802847" y="9074087"/>
            <a:ext cx="365153" cy="347891"/>
          </a:xfrm>
          <a:custGeom>
            <a:avLst/>
            <a:gdLst/>
            <a:ahLst/>
            <a:cxnLst/>
            <a:rect l="l" t="t" r="r" b="b"/>
            <a:pathLst>
              <a:path w="365153" h="347891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660581" y="3155336"/>
            <a:ext cx="1031297" cy="1031297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2658262" y="2102060"/>
            <a:ext cx="4794032" cy="9485815"/>
            <a:chOff x="0" y="0"/>
            <a:chExt cx="2620010" cy="5184140"/>
          </a:xfrm>
        </p:grpSpPr>
        <p:sp>
          <p:nvSpPr>
            <p:cNvPr id="8" name="Freeform 8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94468" r="-94468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6030363" y="896714"/>
            <a:ext cx="2680687" cy="897724"/>
            <a:chOff x="0" y="0"/>
            <a:chExt cx="706025" cy="23643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06025" cy="236438"/>
            </a:xfrm>
            <a:custGeom>
              <a:avLst/>
              <a:gdLst/>
              <a:ahLst/>
              <a:cxnLst/>
              <a:rect l="l" t="t" r="r" b="b"/>
              <a:pathLst>
                <a:path w="706025" h="236438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-2173702" y="8961105"/>
            <a:ext cx="13731160" cy="3753162"/>
            <a:chOff x="0" y="0"/>
            <a:chExt cx="3616437" cy="98848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616437" cy="988487"/>
            </a:xfrm>
            <a:custGeom>
              <a:avLst/>
              <a:gdLst/>
              <a:ahLst/>
              <a:cxnLst/>
              <a:rect l="l" t="t" r="r" b="b"/>
              <a:pathLst>
                <a:path w="3616437" h="988487">
                  <a:moveTo>
                    <a:pt x="0" y="0"/>
                  </a:moveTo>
                  <a:lnTo>
                    <a:pt x="3616437" y="0"/>
                  </a:lnTo>
                  <a:lnTo>
                    <a:pt x="3616437" y="988487"/>
                  </a:lnTo>
                  <a:lnTo>
                    <a:pt x="0" y="988487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6000"/>
                  </a:srgbClr>
                </a:gs>
                <a:gs pos="100000">
                  <a:srgbClr val="9B9B9B">
                    <a:alpha val="1920"/>
                  </a:srgbClr>
                </a:gs>
              </a:gsLst>
              <a:lin ang="0"/>
            </a:gradFill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3616437" cy="10170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1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658262" y="4766467"/>
            <a:ext cx="1148007" cy="1148007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5483760" y="5888134"/>
            <a:ext cx="2001574" cy="2001574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557458" y="8705487"/>
            <a:ext cx="1790091" cy="2083015"/>
            <a:chOff x="0" y="0"/>
            <a:chExt cx="6985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9B9B9B">
                    <a:alpha val="12000"/>
                  </a:srgbClr>
                </a:gs>
              </a:gsLst>
              <a:lin ang="0"/>
            </a:gradFill>
          </p:spPr>
        </p:sp>
        <p:sp>
          <p:nvSpPr>
            <p:cNvPr id="31" name="TextBox 31"/>
            <p:cNvSpPr txBox="1"/>
            <p:nvPr/>
          </p:nvSpPr>
          <p:spPr>
            <a:xfrm>
              <a:off x="0" y="120650"/>
              <a:ext cx="698500" cy="552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6630080" y="1189894"/>
            <a:ext cx="822214" cy="291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  <a:spcBef>
                <a:spcPct val="0"/>
              </a:spcBef>
            </a:pPr>
            <a:r>
              <a:rPr lang="en-US" sz="1920" b="1" spc="199" dirty="0" smtClean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08/18</a:t>
            </a:r>
            <a:endParaRPr lang="en-US" sz="1920" b="1" spc="199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211189" y="1832538"/>
            <a:ext cx="11107702" cy="1567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265"/>
              </a:lnSpc>
              <a:spcBef>
                <a:spcPct val="0"/>
              </a:spcBef>
            </a:pPr>
            <a:r>
              <a:rPr lang="en-US" sz="10573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 HOW THE SYSTEM WORKS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11189" y="4070652"/>
            <a:ext cx="10661856" cy="1004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1197" lvl="1" algn="l">
              <a:lnSpc>
                <a:spcPts val="4526"/>
              </a:lnSpc>
            </a:pPr>
            <a:endParaRPr lang="en-US" sz="3901" b="1" i="1" dirty="0">
              <a:solidFill>
                <a:srgbClr val="FFFFFF"/>
              </a:solidFill>
              <a:latin typeface="Raleway Medium Italics"/>
              <a:ea typeface="Raleway Medium Italics"/>
              <a:cs typeface="Raleway Medium Italics"/>
              <a:sym typeface="Raleway Medium Italics"/>
            </a:endParaRPr>
          </a:p>
          <a:p>
            <a:pPr algn="l">
              <a:lnSpc>
                <a:spcPts val="3212"/>
              </a:lnSpc>
              <a:spcBef>
                <a:spcPct val="0"/>
              </a:spcBef>
            </a:pPr>
            <a:endParaRPr lang="en-US" sz="3901" b="1" i="1" dirty="0">
              <a:solidFill>
                <a:srgbClr val="FFFFFF"/>
              </a:solidFill>
              <a:latin typeface="Raleway Medium Italics"/>
              <a:ea typeface="Raleway Medium Italics"/>
              <a:cs typeface="Raleway Medium Italics"/>
              <a:sym typeface="Raleway Medium Itali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70002" y="3692349"/>
            <a:ext cx="1154579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chemeClr val="bg1"/>
                </a:solidFill>
                <a:latin typeface="Raleway Ultra-Bold" charset="0"/>
              </a:rPr>
              <a:t>The Four Sensors read the signals from the environment and Sends it to the microcontroller the esp8266 </a:t>
            </a:r>
            <a:r>
              <a:rPr lang="en-US" sz="3600" dirty="0" err="1" smtClean="0">
                <a:solidFill>
                  <a:schemeClr val="bg1"/>
                </a:solidFill>
                <a:latin typeface="Raleway Ultra-Bold" charset="0"/>
              </a:rPr>
              <a:t>proccesses</a:t>
            </a:r>
            <a:r>
              <a:rPr lang="en-US" sz="3600" dirty="0" smtClean="0">
                <a:solidFill>
                  <a:schemeClr val="bg1"/>
                </a:solidFill>
                <a:latin typeface="Raleway Ultra-Bold" charset="0"/>
              </a:rPr>
              <a:t> </a:t>
            </a:r>
            <a:r>
              <a:rPr lang="en-US" sz="3600" dirty="0">
                <a:solidFill>
                  <a:schemeClr val="bg1"/>
                </a:solidFill>
                <a:latin typeface="Raleway Ultra-Bold" charset="0"/>
              </a:rPr>
              <a:t> </a:t>
            </a:r>
            <a:r>
              <a:rPr lang="en-US" sz="3600" dirty="0" smtClean="0">
                <a:solidFill>
                  <a:schemeClr val="bg1"/>
                </a:solidFill>
                <a:latin typeface="Raleway Ultra-Bold" charset="0"/>
              </a:rPr>
              <a:t>the collected data before   sending it to the cloud through a </a:t>
            </a:r>
            <a:r>
              <a:rPr lang="en-US" sz="3600" dirty="0" err="1" smtClean="0">
                <a:solidFill>
                  <a:schemeClr val="bg1"/>
                </a:solidFill>
                <a:latin typeface="Raleway Ultra-Bold" charset="0"/>
              </a:rPr>
              <a:t>wifi</a:t>
            </a:r>
            <a:r>
              <a:rPr lang="en-US" sz="3600" dirty="0" smtClean="0">
                <a:solidFill>
                  <a:schemeClr val="bg1"/>
                </a:solidFill>
                <a:latin typeface="Raleway Ultra-Bold" charset="0"/>
              </a:rPr>
              <a:t> connection</a:t>
            </a:r>
          </a:p>
          <a:p>
            <a:r>
              <a:rPr lang="en-US" sz="3600" dirty="0" smtClean="0">
                <a:solidFill>
                  <a:schemeClr val="bg1"/>
                </a:solidFill>
                <a:latin typeface="Raleway Ultra-Bold" charset="0"/>
              </a:rPr>
              <a:t>After that the data get </a:t>
            </a:r>
            <a:r>
              <a:rPr lang="en-US" sz="3600" dirty="0" err="1" smtClean="0">
                <a:solidFill>
                  <a:schemeClr val="bg1"/>
                </a:solidFill>
                <a:latin typeface="Raleway Ultra-Bold" charset="0"/>
              </a:rPr>
              <a:t>proccessed</a:t>
            </a:r>
            <a:r>
              <a:rPr lang="en-US" sz="3600" dirty="0" smtClean="0">
                <a:solidFill>
                  <a:schemeClr val="bg1"/>
                </a:solidFill>
                <a:latin typeface="Raleway Ultra-Bold" charset="0"/>
              </a:rPr>
              <a:t> and </a:t>
            </a:r>
            <a:r>
              <a:rPr lang="en-US" sz="3600" dirty="0" err="1" smtClean="0">
                <a:solidFill>
                  <a:schemeClr val="bg1"/>
                </a:solidFill>
                <a:latin typeface="Raleway Ultra-Bold" charset="0"/>
              </a:rPr>
              <a:t>visualised</a:t>
            </a:r>
            <a:endParaRPr lang="en-US" sz="3600" dirty="0" smtClean="0">
              <a:solidFill>
                <a:schemeClr val="bg1"/>
              </a:solidFill>
              <a:latin typeface="Raleway Ultra-Bold" charset="0"/>
            </a:endParaRPr>
          </a:p>
          <a:p>
            <a:r>
              <a:rPr lang="en-US" sz="3600" dirty="0" smtClean="0">
                <a:solidFill>
                  <a:schemeClr val="bg1"/>
                </a:solidFill>
                <a:latin typeface="Raleway Ultra-Bold" charset="0"/>
              </a:rPr>
              <a:t>On the </a:t>
            </a:r>
            <a:r>
              <a:rPr lang="en-US" sz="3600" dirty="0" err="1" smtClean="0">
                <a:solidFill>
                  <a:schemeClr val="bg1"/>
                </a:solidFill>
                <a:latin typeface="Raleway Ultra-Bold" charset="0"/>
              </a:rPr>
              <a:t>thingspeak</a:t>
            </a:r>
            <a:r>
              <a:rPr lang="en-US" sz="3600" dirty="0" smtClean="0">
                <a:solidFill>
                  <a:schemeClr val="bg1"/>
                </a:solidFill>
                <a:latin typeface="Raleway Ultra-Bold" charset="0"/>
              </a:rPr>
              <a:t> </a:t>
            </a:r>
            <a:endParaRPr lang="en-US" sz="3600" dirty="0">
              <a:solidFill>
                <a:schemeClr val="bg1"/>
              </a:solidFill>
              <a:latin typeface="Raleway Ultra-Bold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0742067" y="-3151841"/>
            <a:ext cx="16235139" cy="16235139"/>
          </a:xfrm>
          <a:custGeom>
            <a:avLst/>
            <a:gdLst/>
            <a:ahLst/>
            <a:cxnLst/>
            <a:rect l="l" t="t" r="r" b="b"/>
            <a:pathLst>
              <a:path w="16235139" h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6802847" y="9074087"/>
            <a:ext cx="365153" cy="347891"/>
          </a:xfrm>
          <a:custGeom>
            <a:avLst/>
            <a:gdLst/>
            <a:ahLst/>
            <a:cxnLst/>
            <a:rect l="l" t="t" r="r" b="b"/>
            <a:pathLst>
              <a:path w="365153" h="347891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030363" y="896714"/>
            <a:ext cx="2680687" cy="897724"/>
            <a:chOff x="0" y="0"/>
            <a:chExt cx="706025" cy="2364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06025" cy="236438"/>
            </a:xfrm>
            <a:custGeom>
              <a:avLst/>
              <a:gdLst/>
              <a:ahLst/>
              <a:cxnLst/>
              <a:rect l="l" t="t" r="r" b="b"/>
              <a:pathLst>
                <a:path w="706025" h="236438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265414" y="3604841"/>
            <a:ext cx="8923409" cy="3482573"/>
            <a:chOff x="0" y="0"/>
            <a:chExt cx="2350198" cy="91722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50198" cy="917221"/>
            </a:xfrm>
            <a:custGeom>
              <a:avLst/>
              <a:gdLst/>
              <a:ahLst/>
              <a:cxnLst/>
              <a:rect l="l" t="t" r="r" b="b"/>
              <a:pathLst>
                <a:path w="2350198" h="917221">
                  <a:moveTo>
                    <a:pt x="0" y="0"/>
                  </a:moveTo>
                  <a:lnTo>
                    <a:pt x="2350198" y="0"/>
                  </a:lnTo>
                  <a:lnTo>
                    <a:pt x="2350198" y="917221"/>
                  </a:lnTo>
                  <a:lnTo>
                    <a:pt x="0" y="917221"/>
                  </a:ln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350198" cy="9362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2611788" y="2628419"/>
            <a:ext cx="5030161" cy="5030161"/>
            <a:chOff x="0" y="0"/>
            <a:chExt cx="14840029" cy="14840029"/>
          </a:xfrm>
        </p:grpSpPr>
        <p:sp>
          <p:nvSpPr>
            <p:cNvPr id="11" name="Freeform 11"/>
            <p:cNvSpPr/>
            <p:nvPr/>
          </p:nvSpPr>
          <p:spPr>
            <a:xfrm>
              <a:off x="-33258" y="-75"/>
              <a:ext cx="14906544" cy="14840178"/>
            </a:xfrm>
            <a:custGeom>
              <a:avLst/>
              <a:gdLst/>
              <a:ahLst/>
              <a:cxnLst/>
              <a:rect l="l" t="t" r="r" b="b"/>
              <a:pathLst>
                <a:path w="14906544" h="14840178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2" name="Freeform 12"/>
            <p:cNvSpPr/>
            <p:nvPr/>
          </p:nvSpPr>
          <p:spPr>
            <a:xfrm>
              <a:off x="168022" y="200309"/>
              <a:ext cx="14503985" cy="14439411"/>
            </a:xfrm>
            <a:custGeom>
              <a:avLst/>
              <a:gdLst/>
              <a:ahLst/>
              <a:cxnLst/>
              <a:rect l="l" t="t" r="r" b="b"/>
              <a:pathLst>
                <a:path w="14503985" h="14439411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531276" y="561946"/>
              <a:ext cx="13777477" cy="13716137"/>
            </a:xfrm>
            <a:custGeom>
              <a:avLst/>
              <a:gdLst/>
              <a:ahLst/>
              <a:cxnLst/>
              <a:rect l="l" t="t" r="r" b="b"/>
              <a:pathLst>
                <a:path w="13777477" h="1371613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5"/>
              <a:stretch>
                <a:fillRect l="-11212" r="-11212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2706251" y="6161550"/>
            <a:ext cx="1851727" cy="185172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553532" y="2478431"/>
            <a:ext cx="1431892" cy="143189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44394" y="3194377"/>
            <a:ext cx="1217541" cy="1217541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6630080" y="1189894"/>
            <a:ext cx="822214" cy="291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  <a:spcBef>
                <a:spcPct val="0"/>
              </a:spcBef>
            </a:pPr>
            <a:r>
              <a:rPr lang="en-US" sz="1920" b="1" spc="199" dirty="0" smtClean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09/18</a:t>
            </a:r>
            <a:endParaRPr lang="en-US" sz="1920" b="1" spc="199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753164" y="5277304"/>
            <a:ext cx="4363020" cy="1901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884"/>
              </a:lnSpc>
              <a:spcBef>
                <a:spcPct val="0"/>
              </a:spcBef>
            </a:pPr>
            <a:r>
              <a:rPr lang="en-US" sz="12831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USAGE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370328" y="3604841"/>
            <a:ext cx="6335923" cy="5091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91"/>
              </a:lnSpc>
            </a:pPr>
            <a:r>
              <a:rPr lang="en-US" sz="3699" b="1" dirty="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This system can be used for:</a:t>
            </a:r>
          </a:p>
          <a:p>
            <a:pPr marL="798823" lvl="1" indent="-399411" algn="l">
              <a:lnSpc>
                <a:spcPts val="4291"/>
              </a:lnSpc>
              <a:buFont typeface="Arial"/>
              <a:buChar char="•"/>
            </a:pPr>
            <a:r>
              <a:rPr lang="en-US" sz="3699" b="1" dirty="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Home environment monitoring</a:t>
            </a:r>
          </a:p>
          <a:p>
            <a:pPr marL="798823" lvl="1" indent="-399411" algn="l">
              <a:lnSpc>
                <a:spcPts val="4291"/>
              </a:lnSpc>
              <a:buFont typeface="Arial"/>
              <a:buChar char="•"/>
            </a:pPr>
            <a:r>
              <a:rPr lang="en-US" sz="3699" b="1" dirty="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Smart agriculture</a:t>
            </a:r>
          </a:p>
          <a:p>
            <a:pPr marL="798823" lvl="1" indent="-399411" algn="l">
              <a:lnSpc>
                <a:spcPts val="4291"/>
              </a:lnSpc>
              <a:buFont typeface="Arial"/>
              <a:buChar char="•"/>
            </a:pPr>
            <a:r>
              <a:rPr lang="en-US" sz="3699" b="1" dirty="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Weather stations</a:t>
            </a:r>
          </a:p>
          <a:p>
            <a:pPr marL="798823" lvl="1" indent="-399411" algn="l">
              <a:lnSpc>
                <a:spcPts val="4291"/>
              </a:lnSpc>
              <a:buFont typeface="Arial"/>
              <a:buChar char="•"/>
            </a:pPr>
            <a:r>
              <a:rPr lang="en-US" sz="3699" b="1" dirty="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School &amp; university </a:t>
            </a:r>
            <a:r>
              <a:rPr lang="en-US" sz="3699" b="1" dirty="0" smtClean="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comfort monitoring</a:t>
            </a:r>
            <a:endParaRPr lang="en-US" sz="3699" b="1" dirty="0">
              <a:solidFill>
                <a:srgbClr val="FFFFFF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798823" lvl="1" indent="-399411" algn="l">
              <a:lnSpc>
                <a:spcPts val="4291"/>
              </a:lnSpc>
              <a:buFont typeface="Arial"/>
              <a:buChar char="•"/>
            </a:pPr>
            <a:r>
              <a:rPr lang="en-US" sz="3699" b="1" dirty="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Smart city applications</a:t>
            </a:r>
          </a:p>
          <a:p>
            <a:pPr algn="l">
              <a:lnSpc>
                <a:spcPts val="5335"/>
              </a:lnSpc>
              <a:spcBef>
                <a:spcPct val="0"/>
              </a:spcBef>
            </a:pPr>
            <a:endParaRPr lang="en-US" sz="3699" b="1" dirty="0">
              <a:solidFill>
                <a:srgbClr val="FFFFFF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28700" y="3525413"/>
            <a:ext cx="5341628" cy="1901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884"/>
              </a:lnSpc>
              <a:spcBef>
                <a:spcPct val="0"/>
              </a:spcBef>
            </a:pPr>
            <a:r>
              <a:rPr lang="en-US" sz="12831" b="1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PROJECT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0742067" y="-3151841"/>
            <a:ext cx="16235139" cy="16235139"/>
          </a:xfrm>
          <a:custGeom>
            <a:avLst/>
            <a:gdLst/>
            <a:ahLst/>
            <a:cxnLst/>
            <a:rect l="l" t="t" r="r" b="b"/>
            <a:pathLst>
              <a:path w="16235139" h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6802847" y="9074087"/>
            <a:ext cx="365153" cy="347891"/>
          </a:xfrm>
          <a:custGeom>
            <a:avLst/>
            <a:gdLst/>
            <a:ahLst/>
            <a:cxnLst/>
            <a:rect l="l" t="t" r="r" b="b"/>
            <a:pathLst>
              <a:path w="365153" h="347891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030363" y="896714"/>
            <a:ext cx="2680687" cy="897724"/>
            <a:chOff x="0" y="0"/>
            <a:chExt cx="706025" cy="2364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06025" cy="236438"/>
            </a:xfrm>
            <a:custGeom>
              <a:avLst/>
              <a:gdLst/>
              <a:ahLst/>
              <a:cxnLst/>
              <a:rect l="l" t="t" r="r" b="b"/>
              <a:pathLst>
                <a:path w="706025" h="236438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630080" y="1189894"/>
            <a:ext cx="822214" cy="291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  <a:spcBef>
                <a:spcPct val="0"/>
              </a:spcBef>
            </a:pPr>
            <a:r>
              <a:rPr lang="en-US" sz="1920" b="1" spc="199" dirty="0" smtClean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10/18</a:t>
            </a:r>
            <a:endParaRPr lang="en-US" sz="1920" b="1" spc="199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033423" y="353157"/>
            <a:ext cx="13370731" cy="1540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056"/>
              </a:lnSpc>
              <a:spcBef>
                <a:spcPct val="0"/>
              </a:spcBef>
            </a:pPr>
            <a:r>
              <a:rPr lang="en-US" sz="10393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 ADVANTAGES OF THE PROJECT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0" y="2488014"/>
            <a:ext cx="19006603" cy="5672283"/>
            <a:chOff x="0" y="0"/>
            <a:chExt cx="5005854" cy="149393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005854" cy="1493935"/>
            </a:xfrm>
            <a:custGeom>
              <a:avLst/>
              <a:gdLst/>
              <a:ahLst/>
              <a:cxnLst/>
              <a:rect l="l" t="t" r="r" b="b"/>
              <a:pathLst>
                <a:path w="5005854" h="1493935">
                  <a:moveTo>
                    <a:pt x="0" y="0"/>
                  </a:moveTo>
                  <a:lnTo>
                    <a:pt x="5005854" y="0"/>
                  </a:lnTo>
                  <a:lnTo>
                    <a:pt x="5005854" y="1493935"/>
                  </a:lnTo>
                  <a:lnTo>
                    <a:pt x="0" y="1493935"/>
                  </a:ln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5005854" cy="15129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17832"/>
            <a:ext cx="2014483" cy="2344125"/>
            <a:chOff x="0" y="0"/>
            <a:chExt cx="6985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5"/>
              <a:stretch>
                <a:fillRect l="-48404" r="-48404"/>
              </a:stretch>
            </a:blipFill>
            <a:ln w="57150" cap="sq">
              <a:gradFill>
                <a:gsLst>
                  <a:gs pos="0">
                    <a:srgbClr val="243F81">
                      <a:alpha val="100000"/>
                    </a:srgbClr>
                  </a:gs>
                  <a:gs pos="100000">
                    <a:srgbClr val="28819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6273517" y="8075970"/>
            <a:ext cx="2014483" cy="2344125"/>
            <a:chOff x="0" y="0"/>
            <a:chExt cx="6985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6"/>
              <a:stretch>
                <a:fillRect l="-53281" r="-53281"/>
              </a:stretch>
            </a:blipFill>
            <a:ln w="57150" cap="sq">
              <a:gradFill>
                <a:gsLst>
                  <a:gs pos="0">
                    <a:srgbClr val="243F81">
                      <a:alpha val="100000"/>
                    </a:srgbClr>
                  </a:gs>
                  <a:gs pos="100000">
                    <a:srgbClr val="28819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765840" y="3397998"/>
            <a:ext cx="16275347" cy="4667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58735" lvl="1" indent="-479367" algn="l">
              <a:lnSpc>
                <a:spcPts val="5151"/>
              </a:lnSpc>
              <a:buFont typeface="Arial"/>
              <a:buChar char="•"/>
            </a:pPr>
            <a:r>
              <a:rPr lang="en-US" sz="4440" b="1" dirty="0" smtClean="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low-cost</a:t>
            </a:r>
          </a:p>
          <a:p>
            <a:pPr marL="958735" lvl="1" indent="-479367" algn="l">
              <a:lnSpc>
                <a:spcPts val="5151"/>
              </a:lnSpc>
              <a:buFont typeface="Arial"/>
              <a:buChar char="•"/>
            </a:pPr>
            <a:r>
              <a:rPr lang="en-US" sz="4440" b="1" dirty="0" smtClean="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Accurate results</a:t>
            </a:r>
            <a:endParaRPr lang="en-US" sz="4440" b="1" dirty="0">
              <a:solidFill>
                <a:srgbClr val="FFFFFF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958735" lvl="1" indent="-479367" algn="l">
              <a:lnSpc>
                <a:spcPts val="5151"/>
              </a:lnSpc>
              <a:buFont typeface="Arial"/>
              <a:buChar char="•"/>
            </a:pPr>
            <a:r>
              <a:rPr lang="en-US" sz="4440" b="1" dirty="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Real-time monitoring</a:t>
            </a:r>
          </a:p>
          <a:p>
            <a:pPr marL="958735" lvl="1" indent="-479367" algn="l">
              <a:lnSpc>
                <a:spcPts val="5151"/>
              </a:lnSpc>
              <a:buFont typeface="Arial"/>
              <a:buChar char="•"/>
            </a:pPr>
            <a:r>
              <a:rPr lang="en-US" sz="4440" b="1" dirty="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Works remotely</a:t>
            </a:r>
          </a:p>
          <a:p>
            <a:pPr marL="958735" lvl="1" indent="-479367" algn="l">
              <a:lnSpc>
                <a:spcPts val="5151"/>
              </a:lnSpc>
              <a:buFont typeface="Arial"/>
              <a:buChar char="•"/>
            </a:pPr>
            <a:r>
              <a:rPr lang="en-US" sz="4440" b="1" dirty="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Cloud data </a:t>
            </a:r>
            <a:r>
              <a:rPr lang="en-US" sz="4440" b="1" dirty="0" smtClean="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storage and visualization</a:t>
            </a:r>
            <a:endParaRPr lang="en-US" sz="4440" b="1" dirty="0">
              <a:solidFill>
                <a:srgbClr val="FFFFFF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958735" lvl="1" indent="-479367" algn="l">
              <a:lnSpc>
                <a:spcPts val="5151"/>
              </a:lnSpc>
              <a:buFont typeface="Arial"/>
              <a:buChar char="•"/>
            </a:pPr>
            <a:r>
              <a:rPr lang="en-US" sz="4440" b="1" dirty="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Scalable for more sensors</a:t>
            </a:r>
          </a:p>
          <a:p>
            <a:pPr algn="l">
              <a:lnSpc>
                <a:spcPts val="5151"/>
              </a:lnSpc>
              <a:spcBef>
                <a:spcPct val="0"/>
              </a:spcBef>
            </a:pPr>
            <a:endParaRPr lang="en-US" sz="4440" b="1" dirty="0">
              <a:solidFill>
                <a:srgbClr val="FFFFFF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0742067" y="-3151841"/>
            <a:ext cx="16235139" cy="16235139"/>
          </a:xfrm>
          <a:custGeom>
            <a:avLst/>
            <a:gdLst/>
            <a:ahLst/>
            <a:cxnLst/>
            <a:rect l="l" t="t" r="r" b="b"/>
            <a:pathLst>
              <a:path w="16235139" h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6802847" y="9074087"/>
            <a:ext cx="365153" cy="347891"/>
          </a:xfrm>
          <a:custGeom>
            <a:avLst/>
            <a:gdLst/>
            <a:ahLst/>
            <a:cxnLst/>
            <a:rect l="l" t="t" r="r" b="b"/>
            <a:pathLst>
              <a:path w="365153" h="347891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030363" y="1077594"/>
            <a:ext cx="2680687" cy="897724"/>
            <a:chOff x="0" y="0"/>
            <a:chExt cx="706025" cy="2364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06025" cy="236438"/>
            </a:xfrm>
            <a:custGeom>
              <a:avLst/>
              <a:gdLst/>
              <a:ahLst/>
              <a:cxnLst/>
              <a:rect l="l" t="t" r="r" b="b"/>
              <a:pathLst>
                <a:path w="706025" h="236438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630080" y="1189894"/>
            <a:ext cx="822214" cy="291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  <a:spcBef>
                <a:spcPct val="0"/>
              </a:spcBef>
            </a:pPr>
            <a:r>
              <a:rPr lang="en-US" sz="1920" b="1" spc="199" dirty="0" smtClean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11/18</a:t>
            </a:r>
            <a:endParaRPr lang="en-US" sz="1920" b="1" spc="199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648200" y="419652"/>
            <a:ext cx="13370731" cy="1540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056"/>
              </a:lnSpc>
              <a:spcBef>
                <a:spcPct val="0"/>
              </a:spcBef>
            </a:pPr>
            <a:r>
              <a:rPr lang="en-US" sz="10393" dirty="0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 </a:t>
            </a:r>
            <a:r>
              <a:rPr lang="en-US" sz="10393" dirty="0" smtClean="0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THE PROJECT CODE</a:t>
            </a:r>
            <a:endParaRPr lang="en-US" sz="10393" dirty="0">
              <a:solidFill>
                <a:srgbClr val="FFFFFF"/>
              </a:solidFill>
              <a:latin typeface="Antonio Light"/>
              <a:ea typeface="Antonio Light"/>
              <a:cs typeface="Antonio Light"/>
              <a:sym typeface="Antonio Light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0" y="2488014"/>
            <a:ext cx="19006603" cy="5672283"/>
            <a:chOff x="0" y="0"/>
            <a:chExt cx="5005854" cy="149393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005854" cy="1493935"/>
            </a:xfrm>
            <a:custGeom>
              <a:avLst/>
              <a:gdLst/>
              <a:ahLst/>
              <a:cxnLst/>
              <a:rect l="l" t="t" r="r" b="b"/>
              <a:pathLst>
                <a:path w="5005854" h="1493935">
                  <a:moveTo>
                    <a:pt x="0" y="0"/>
                  </a:moveTo>
                  <a:lnTo>
                    <a:pt x="5005854" y="0"/>
                  </a:lnTo>
                  <a:lnTo>
                    <a:pt x="5005854" y="1493935"/>
                  </a:lnTo>
                  <a:lnTo>
                    <a:pt x="0" y="1493935"/>
                  </a:ln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5005854" cy="15129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167" y="1866900"/>
            <a:ext cx="15316200" cy="7737252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16273517" y="7734300"/>
            <a:ext cx="2014483" cy="2344125"/>
            <a:chOff x="0" y="0"/>
            <a:chExt cx="6985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6"/>
              <a:stretch>
                <a:fillRect l="-53281" r="-53281"/>
              </a:stretch>
            </a:blipFill>
            <a:ln w="57150" cap="sq">
              <a:gradFill>
                <a:gsLst>
                  <a:gs pos="0">
                    <a:srgbClr val="243F81">
                      <a:alpha val="100000"/>
                    </a:srgbClr>
                  </a:gs>
                  <a:gs pos="100000">
                    <a:srgbClr val="28819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</p:spTree>
    <p:extLst>
      <p:ext uri="{BB962C8B-B14F-4D97-AF65-F5344CB8AC3E}">
        <p14:creationId xmlns:p14="http://schemas.microsoft.com/office/powerpoint/2010/main" val="39563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0742067" y="-3151841"/>
            <a:ext cx="16235139" cy="16235139"/>
          </a:xfrm>
          <a:custGeom>
            <a:avLst/>
            <a:gdLst/>
            <a:ahLst/>
            <a:cxnLst/>
            <a:rect l="l" t="t" r="r" b="b"/>
            <a:pathLst>
              <a:path w="16235139" h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6802847" y="9074087"/>
            <a:ext cx="365153" cy="347891"/>
          </a:xfrm>
          <a:custGeom>
            <a:avLst/>
            <a:gdLst/>
            <a:ahLst/>
            <a:cxnLst/>
            <a:rect l="l" t="t" r="r" b="b"/>
            <a:pathLst>
              <a:path w="365153" h="347891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030363" y="896714"/>
            <a:ext cx="2680687" cy="897724"/>
            <a:chOff x="0" y="0"/>
            <a:chExt cx="706025" cy="2364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06025" cy="236438"/>
            </a:xfrm>
            <a:custGeom>
              <a:avLst/>
              <a:gdLst/>
              <a:ahLst/>
              <a:cxnLst/>
              <a:rect l="l" t="t" r="r" b="b"/>
              <a:pathLst>
                <a:path w="706025" h="236438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630080" y="1189894"/>
            <a:ext cx="822214" cy="291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  <a:spcBef>
                <a:spcPct val="0"/>
              </a:spcBef>
            </a:pPr>
            <a:r>
              <a:rPr lang="en-US" sz="1920" b="1" spc="199" dirty="0" smtClean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12/18</a:t>
            </a:r>
            <a:endParaRPr lang="en-US" sz="1920" b="1" spc="199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648200" y="419652"/>
            <a:ext cx="13370731" cy="1540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056"/>
              </a:lnSpc>
              <a:spcBef>
                <a:spcPct val="0"/>
              </a:spcBef>
            </a:pPr>
            <a:r>
              <a:rPr lang="en-US" sz="10393" dirty="0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 </a:t>
            </a:r>
            <a:r>
              <a:rPr lang="en-US" sz="10393" dirty="0" smtClean="0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THE PROJECT CODE</a:t>
            </a:r>
            <a:endParaRPr lang="en-US" sz="10393" dirty="0">
              <a:solidFill>
                <a:srgbClr val="FFFFFF"/>
              </a:solidFill>
              <a:latin typeface="Antonio Light"/>
              <a:ea typeface="Antonio Light"/>
              <a:cs typeface="Antonio Light"/>
              <a:sym typeface="Antonio Light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0" y="2488014"/>
            <a:ext cx="19006603" cy="5672283"/>
            <a:chOff x="0" y="0"/>
            <a:chExt cx="5005854" cy="149393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005854" cy="1493935"/>
            </a:xfrm>
            <a:custGeom>
              <a:avLst/>
              <a:gdLst/>
              <a:ahLst/>
              <a:cxnLst/>
              <a:rect l="l" t="t" r="r" b="b"/>
              <a:pathLst>
                <a:path w="5005854" h="1493935">
                  <a:moveTo>
                    <a:pt x="0" y="0"/>
                  </a:moveTo>
                  <a:lnTo>
                    <a:pt x="5005854" y="0"/>
                  </a:lnTo>
                  <a:lnTo>
                    <a:pt x="5005854" y="1493935"/>
                  </a:lnTo>
                  <a:lnTo>
                    <a:pt x="0" y="1493935"/>
                  </a:ln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5005854" cy="15129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7286" y="1794439"/>
            <a:ext cx="15212794" cy="7701164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16273515" y="7734299"/>
            <a:ext cx="2014483" cy="2344125"/>
            <a:chOff x="0" y="0"/>
            <a:chExt cx="6985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6"/>
              <a:stretch>
                <a:fillRect l="-53281" r="-53281"/>
              </a:stretch>
            </a:blipFill>
            <a:ln w="57150" cap="sq">
              <a:gradFill>
                <a:gsLst>
                  <a:gs pos="0">
                    <a:srgbClr val="243F81">
                      <a:alpha val="100000"/>
                    </a:srgbClr>
                  </a:gs>
                  <a:gs pos="100000">
                    <a:srgbClr val="28819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</p:spTree>
    <p:extLst>
      <p:ext uri="{BB962C8B-B14F-4D97-AF65-F5344CB8AC3E}">
        <p14:creationId xmlns:p14="http://schemas.microsoft.com/office/powerpoint/2010/main" val="1694036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0742067" y="-3151841"/>
            <a:ext cx="16235139" cy="16235139"/>
          </a:xfrm>
          <a:custGeom>
            <a:avLst/>
            <a:gdLst/>
            <a:ahLst/>
            <a:cxnLst/>
            <a:rect l="l" t="t" r="r" b="b"/>
            <a:pathLst>
              <a:path w="16235139" h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6802847" y="9074087"/>
            <a:ext cx="365153" cy="347891"/>
          </a:xfrm>
          <a:custGeom>
            <a:avLst/>
            <a:gdLst/>
            <a:ahLst/>
            <a:cxnLst/>
            <a:rect l="l" t="t" r="r" b="b"/>
            <a:pathLst>
              <a:path w="365153" h="347891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030363" y="896714"/>
            <a:ext cx="2680687" cy="897724"/>
            <a:chOff x="0" y="0"/>
            <a:chExt cx="706025" cy="2364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06025" cy="236438"/>
            </a:xfrm>
            <a:custGeom>
              <a:avLst/>
              <a:gdLst/>
              <a:ahLst/>
              <a:cxnLst/>
              <a:rect l="l" t="t" r="r" b="b"/>
              <a:pathLst>
                <a:path w="706025" h="236438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630080" y="1189894"/>
            <a:ext cx="822214" cy="291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  <a:spcBef>
                <a:spcPct val="0"/>
              </a:spcBef>
            </a:pPr>
            <a:r>
              <a:rPr lang="en-US" sz="1920" b="1" spc="199" dirty="0" smtClean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13/18</a:t>
            </a:r>
            <a:endParaRPr lang="en-US" sz="1920" b="1" spc="199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648200" y="419652"/>
            <a:ext cx="13370731" cy="1540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056"/>
              </a:lnSpc>
              <a:spcBef>
                <a:spcPct val="0"/>
              </a:spcBef>
            </a:pPr>
            <a:r>
              <a:rPr lang="en-US" sz="10393" dirty="0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 </a:t>
            </a:r>
            <a:r>
              <a:rPr lang="en-US" sz="10393" dirty="0" smtClean="0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THE PROJECT CODE</a:t>
            </a:r>
            <a:endParaRPr lang="en-US" sz="10393" dirty="0">
              <a:solidFill>
                <a:srgbClr val="FFFFFF"/>
              </a:solidFill>
              <a:latin typeface="Antonio Light"/>
              <a:ea typeface="Antonio Light"/>
              <a:cs typeface="Antonio Light"/>
              <a:sym typeface="Antonio Light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0" y="2488014"/>
            <a:ext cx="19006603" cy="5672283"/>
            <a:chOff x="0" y="0"/>
            <a:chExt cx="5005854" cy="149393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005854" cy="1493935"/>
            </a:xfrm>
            <a:custGeom>
              <a:avLst/>
              <a:gdLst/>
              <a:ahLst/>
              <a:cxnLst/>
              <a:rect l="l" t="t" r="r" b="b"/>
              <a:pathLst>
                <a:path w="5005854" h="1493935">
                  <a:moveTo>
                    <a:pt x="0" y="0"/>
                  </a:moveTo>
                  <a:lnTo>
                    <a:pt x="5005854" y="0"/>
                  </a:lnTo>
                  <a:lnTo>
                    <a:pt x="5005854" y="1493935"/>
                  </a:lnTo>
                  <a:lnTo>
                    <a:pt x="0" y="1493935"/>
                  </a:ln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5005854" cy="15129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99" y="1960135"/>
            <a:ext cx="16173405" cy="7602965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16273517" y="8075970"/>
            <a:ext cx="2014483" cy="2344125"/>
            <a:chOff x="0" y="0"/>
            <a:chExt cx="6985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6"/>
              <a:stretch>
                <a:fillRect l="-53281" r="-53281"/>
              </a:stretch>
            </a:blipFill>
            <a:ln w="57150" cap="sq">
              <a:gradFill>
                <a:gsLst>
                  <a:gs pos="0">
                    <a:srgbClr val="243F81">
                      <a:alpha val="100000"/>
                    </a:srgbClr>
                  </a:gs>
                  <a:gs pos="100000">
                    <a:srgbClr val="28819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</p:spTree>
    <p:extLst>
      <p:ext uri="{BB962C8B-B14F-4D97-AF65-F5344CB8AC3E}">
        <p14:creationId xmlns:p14="http://schemas.microsoft.com/office/powerpoint/2010/main" val="231353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0742067" y="-3151841"/>
            <a:ext cx="16235139" cy="16235139"/>
          </a:xfrm>
          <a:custGeom>
            <a:avLst/>
            <a:gdLst/>
            <a:ahLst/>
            <a:cxnLst/>
            <a:rect l="l" t="t" r="r" b="b"/>
            <a:pathLst>
              <a:path w="16235139" h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6802847" y="9074087"/>
            <a:ext cx="365153" cy="347891"/>
          </a:xfrm>
          <a:custGeom>
            <a:avLst/>
            <a:gdLst/>
            <a:ahLst/>
            <a:cxnLst/>
            <a:rect l="l" t="t" r="r" b="b"/>
            <a:pathLst>
              <a:path w="365153" h="347891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030363" y="896714"/>
            <a:ext cx="2680687" cy="897724"/>
            <a:chOff x="0" y="0"/>
            <a:chExt cx="706025" cy="2364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06025" cy="236438"/>
            </a:xfrm>
            <a:custGeom>
              <a:avLst/>
              <a:gdLst/>
              <a:ahLst/>
              <a:cxnLst/>
              <a:rect l="l" t="t" r="r" b="b"/>
              <a:pathLst>
                <a:path w="706025" h="236438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630080" y="1189894"/>
            <a:ext cx="822214" cy="291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  <a:spcBef>
                <a:spcPct val="0"/>
              </a:spcBef>
            </a:pPr>
            <a:r>
              <a:rPr lang="en-US" sz="1920" b="1" spc="199" dirty="0" smtClean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14/17</a:t>
            </a:r>
            <a:endParaRPr lang="en-US" sz="1920" b="1" spc="199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648199" y="67961"/>
            <a:ext cx="12392987" cy="1551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2056"/>
              </a:lnSpc>
              <a:spcBef>
                <a:spcPct val="0"/>
              </a:spcBef>
            </a:pPr>
            <a:r>
              <a:rPr lang="en-US" sz="10393" dirty="0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 </a:t>
            </a:r>
            <a:r>
              <a:rPr lang="en-US" sz="10393" dirty="0" smtClean="0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THE PROJECT CODE</a:t>
            </a:r>
            <a:endParaRPr lang="en-US" sz="10393" dirty="0">
              <a:solidFill>
                <a:srgbClr val="FFFFFF"/>
              </a:solidFill>
              <a:latin typeface="Antonio Light"/>
              <a:ea typeface="Antonio Light"/>
              <a:cs typeface="Antonio Light"/>
              <a:sym typeface="Antonio Light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0" y="2488014"/>
            <a:ext cx="19006603" cy="5672283"/>
            <a:chOff x="0" y="0"/>
            <a:chExt cx="5005854" cy="149393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005854" cy="1493935"/>
            </a:xfrm>
            <a:custGeom>
              <a:avLst/>
              <a:gdLst/>
              <a:ahLst/>
              <a:cxnLst/>
              <a:rect l="l" t="t" r="r" b="b"/>
              <a:pathLst>
                <a:path w="5005854" h="1493935">
                  <a:moveTo>
                    <a:pt x="0" y="0"/>
                  </a:moveTo>
                  <a:lnTo>
                    <a:pt x="5005854" y="0"/>
                  </a:lnTo>
                  <a:lnTo>
                    <a:pt x="5005854" y="1493935"/>
                  </a:lnTo>
                  <a:lnTo>
                    <a:pt x="0" y="1493935"/>
                  </a:ln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5005854" cy="15129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028" y="1469276"/>
            <a:ext cx="16550678" cy="7709757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14788364" y="7661526"/>
            <a:ext cx="2014483" cy="2344125"/>
            <a:chOff x="0" y="0"/>
            <a:chExt cx="6985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6"/>
              <a:stretch>
                <a:fillRect l="-53281" r="-53281"/>
              </a:stretch>
            </a:blipFill>
            <a:ln w="57150" cap="sq">
              <a:gradFill>
                <a:gsLst>
                  <a:gs pos="0">
                    <a:srgbClr val="243F81">
                      <a:alpha val="100000"/>
                    </a:srgbClr>
                  </a:gs>
                  <a:gs pos="100000">
                    <a:srgbClr val="28819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</p:spTree>
    <p:extLst>
      <p:ext uri="{BB962C8B-B14F-4D97-AF65-F5344CB8AC3E}">
        <p14:creationId xmlns:p14="http://schemas.microsoft.com/office/powerpoint/2010/main" val="775616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0742067" y="-3151841"/>
            <a:ext cx="16235139" cy="16235139"/>
          </a:xfrm>
          <a:custGeom>
            <a:avLst/>
            <a:gdLst/>
            <a:ahLst/>
            <a:cxnLst/>
            <a:rect l="l" t="t" r="r" b="b"/>
            <a:pathLst>
              <a:path w="16235139" h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6802847" y="9074087"/>
            <a:ext cx="365153" cy="347891"/>
          </a:xfrm>
          <a:custGeom>
            <a:avLst/>
            <a:gdLst/>
            <a:ahLst/>
            <a:cxnLst/>
            <a:rect l="l" t="t" r="r" b="b"/>
            <a:pathLst>
              <a:path w="365153" h="347891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030363" y="896714"/>
            <a:ext cx="2680687" cy="897724"/>
            <a:chOff x="0" y="0"/>
            <a:chExt cx="706025" cy="2364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06025" cy="236438"/>
            </a:xfrm>
            <a:custGeom>
              <a:avLst/>
              <a:gdLst/>
              <a:ahLst/>
              <a:cxnLst/>
              <a:rect l="l" t="t" r="r" b="b"/>
              <a:pathLst>
                <a:path w="706025" h="236438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630080" y="1189894"/>
            <a:ext cx="822214" cy="291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  <a:spcBef>
                <a:spcPct val="0"/>
              </a:spcBef>
            </a:pPr>
            <a:r>
              <a:rPr lang="en-US" sz="1920" b="1" spc="199" dirty="0" smtClean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15/18</a:t>
            </a:r>
            <a:endParaRPr lang="en-US" sz="1920" b="1" spc="199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648199" y="67961"/>
            <a:ext cx="12392987" cy="1551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2056"/>
              </a:lnSpc>
              <a:spcBef>
                <a:spcPct val="0"/>
              </a:spcBef>
            </a:pPr>
            <a:r>
              <a:rPr lang="en-US" sz="10393" dirty="0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 </a:t>
            </a:r>
            <a:r>
              <a:rPr lang="en-US" sz="10393" dirty="0" smtClean="0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THE PROJECT CODE</a:t>
            </a:r>
            <a:endParaRPr lang="en-US" sz="10393" dirty="0">
              <a:solidFill>
                <a:srgbClr val="FFFFFF"/>
              </a:solidFill>
              <a:latin typeface="Antonio Light"/>
              <a:ea typeface="Antonio Light"/>
              <a:cs typeface="Antonio Light"/>
              <a:sym typeface="Antonio Light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0" y="2488014"/>
            <a:ext cx="19006603" cy="5672283"/>
            <a:chOff x="0" y="0"/>
            <a:chExt cx="5005854" cy="149393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005854" cy="1493935"/>
            </a:xfrm>
            <a:custGeom>
              <a:avLst/>
              <a:gdLst/>
              <a:ahLst/>
              <a:cxnLst/>
              <a:rect l="l" t="t" r="r" b="b"/>
              <a:pathLst>
                <a:path w="5005854" h="1493935">
                  <a:moveTo>
                    <a:pt x="0" y="0"/>
                  </a:moveTo>
                  <a:lnTo>
                    <a:pt x="5005854" y="0"/>
                  </a:lnTo>
                  <a:lnTo>
                    <a:pt x="5005854" y="1493935"/>
                  </a:lnTo>
                  <a:lnTo>
                    <a:pt x="0" y="1493935"/>
                  </a:ln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5005854" cy="15129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788364" y="7661526"/>
            <a:ext cx="2014483" cy="2344125"/>
            <a:chOff x="0" y="0"/>
            <a:chExt cx="6985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5"/>
              <a:stretch>
                <a:fillRect l="-53281" r="-53281"/>
              </a:stretch>
            </a:blipFill>
            <a:ln w="57150" cap="sq">
              <a:gradFill>
                <a:gsLst>
                  <a:gs pos="0">
                    <a:srgbClr val="243F81">
                      <a:alpha val="100000"/>
                    </a:srgbClr>
                  </a:gs>
                  <a:gs pos="100000">
                    <a:srgbClr val="28819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832" y="2709862"/>
            <a:ext cx="17808938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186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9420340" y="-2634852"/>
            <a:ext cx="15139764" cy="16235139"/>
          </a:xfrm>
          <a:custGeom>
            <a:avLst/>
            <a:gdLst/>
            <a:ahLst/>
            <a:cxnLst/>
            <a:rect l="l" t="t" r="r" b="b"/>
            <a:pathLst>
              <a:path w="15139764" h="16235139">
                <a:moveTo>
                  <a:pt x="15139764" y="0"/>
                </a:moveTo>
                <a:lnTo>
                  <a:pt x="0" y="0"/>
                </a:lnTo>
                <a:lnTo>
                  <a:pt x="0" y="16235138"/>
                </a:lnTo>
                <a:lnTo>
                  <a:pt x="15139764" y="16235138"/>
                </a:lnTo>
                <a:lnTo>
                  <a:pt x="15139764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l="-7235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6802847" y="9074087"/>
            <a:ext cx="365153" cy="347891"/>
          </a:xfrm>
          <a:custGeom>
            <a:avLst/>
            <a:gdLst/>
            <a:ahLst/>
            <a:cxnLst/>
            <a:rect l="l" t="t" r="r" b="b"/>
            <a:pathLst>
              <a:path w="365153" h="347891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030363" y="896714"/>
            <a:ext cx="2680687" cy="897724"/>
            <a:chOff x="0" y="0"/>
            <a:chExt cx="706025" cy="2364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06025" cy="236438"/>
            </a:xfrm>
            <a:custGeom>
              <a:avLst/>
              <a:gdLst/>
              <a:ahLst/>
              <a:cxnLst/>
              <a:rect l="l" t="t" r="r" b="b"/>
              <a:pathLst>
                <a:path w="706025" h="236438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630080" y="1189894"/>
            <a:ext cx="822214" cy="291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  <a:spcBef>
                <a:spcPct val="0"/>
              </a:spcBef>
            </a:pPr>
            <a:r>
              <a:rPr lang="en-US" sz="1920" b="1" spc="199" dirty="0" smtClean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16/18</a:t>
            </a:r>
            <a:endParaRPr lang="en-US" sz="1920" b="1" spc="199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573657"/>
            <a:ext cx="14268329" cy="1540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056"/>
              </a:lnSpc>
              <a:spcBef>
                <a:spcPct val="0"/>
              </a:spcBef>
            </a:pPr>
            <a:r>
              <a:rPr lang="en-US" sz="10393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FUTURE VISION OF THE PROJECT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65031" y="3027688"/>
            <a:ext cx="14031999" cy="407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5"/>
              </a:lnSpc>
            </a:pPr>
            <a:r>
              <a:rPr lang="en-US" sz="4599" b="1" dirty="0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In the future, the system can be improved by:</a:t>
            </a:r>
          </a:p>
          <a:p>
            <a:pPr marL="993128" lvl="1" indent="-496564">
              <a:lnSpc>
                <a:spcPts val="5335"/>
              </a:lnSpc>
              <a:buFont typeface="Arial"/>
              <a:buChar char="•"/>
            </a:pPr>
            <a:r>
              <a:rPr lang="en-US" sz="4599" b="1" dirty="0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Adding more </a:t>
            </a:r>
            <a:r>
              <a:rPr lang="en-US" sz="4599" b="1" dirty="0" smtClean="0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sensors</a:t>
            </a:r>
            <a:endParaRPr lang="en-US" sz="4599" b="1" dirty="0">
              <a:solidFill>
                <a:srgbClr val="FFFFFF"/>
              </a:solidFill>
              <a:latin typeface="Raleway Ultra-Bold"/>
              <a:ea typeface="Raleway Ultra-Bold"/>
              <a:cs typeface="Raleway Ultra-Bold"/>
              <a:sym typeface="Raleway Ultra-Bold"/>
            </a:endParaRPr>
          </a:p>
          <a:p>
            <a:pPr marL="993128" lvl="1" indent="-496564">
              <a:lnSpc>
                <a:spcPts val="5335"/>
              </a:lnSpc>
              <a:buFont typeface="Arial"/>
              <a:buChar char="•"/>
            </a:pPr>
            <a:r>
              <a:rPr lang="en-US" sz="4599" b="1" dirty="0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Building a mobile app for notification alerts</a:t>
            </a:r>
          </a:p>
          <a:p>
            <a:pPr marL="993128" lvl="1" indent="-496564">
              <a:lnSpc>
                <a:spcPts val="5335"/>
              </a:lnSpc>
              <a:buFont typeface="Arial"/>
              <a:buChar char="•"/>
            </a:pPr>
            <a:r>
              <a:rPr lang="en-US" sz="4599" b="1" dirty="0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Using solar power</a:t>
            </a:r>
          </a:p>
          <a:p>
            <a:pPr marL="993128" lvl="1" indent="-496564">
              <a:lnSpc>
                <a:spcPts val="5335"/>
              </a:lnSpc>
              <a:buFont typeface="Arial"/>
              <a:buChar char="•"/>
            </a:pPr>
            <a:r>
              <a:rPr lang="en-US" sz="4599" b="1" dirty="0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Adding machine learning for weather </a:t>
            </a:r>
            <a:r>
              <a:rPr lang="en-US" sz="4599" b="1" dirty="0" smtClean="0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prediction</a:t>
            </a:r>
            <a:endParaRPr lang="en-US" sz="4599" b="1" dirty="0">
              <a:solidFill>
                <a:srgbClr val="FFFFFF"/>
              </a:solidFill>
              <a:latin typeface="Raleway Ultra-Bold"/>
              <a:ea typeface="Raleway Ultra-Bold"/>
              <a:cs typeface="Raleway Ultra-Bold"/>
              <a:sym typeface="Raleway Ultra-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0742067" y="-3151841"/>
            <a:ext cx="16235139" cy="16235139"/>
          </a:xfrm>
          <a:custGeom>
            <a:avLst/>
            <a:gdLst/>
            <a:ahLst/>
            <a:cxnLst/>
            <a:rect l="l" t="t" r="r" b="b"/>
            <a:pathLst>
              <a:path w="16235139" h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6802847" y="9074087"/>
            <a:ext cx="365153" cy="347891"/>
          </a:xfrm>
          <a:custGeom>
            <a:avLst/>
            <a:gdLst/>
            <a:ahLst/>
            <a:cxnLst/>
            <a:rect l="l" t="t" r="r" b="b"/>
            <a:pathLst>
              <a:path w="365153" h="347891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2049" y="8754671"/>
            <a:ext cx="5408361" cy="493362"/>
          </a:xfrm>
          <a:custGeom>
            <a:avLst/>
            <a:gdLst/>
            <a:ahLst/>
            <a:cxnLst/>
            <a:rect l="l" t="t" r="r" b="b"/>
            <a:pathLst>
              <a:path w="5408361" h="493362">
                <a:moveTo>
                  <a:pt x="0" y="0"/>
                </a:moveTo>
                <a:lnTo>
                  <a:pt x="5408361" y="0"/>
                </a:lnTo>
                <a:lnTo>
                  <a:pt x="5408361" y="493361"/>
                </a:lnTo>
                <a:lnTo>
                  <a:pt x="0" y="4933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6030363" y="896714"/>
            <a:ext cx="2680687" cy="897724"/>
            <a:chOff x="0" y="0"/>
            <a:chExt cx="706025" cy="2364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06025" cy="236438"/>
            </a:xfrm>
            <a:custGeom>
              <a:avLst/>
              <a:gdLst/>
              <a:ahLst/>
              <a:cxnLst/>
              <a:rect l="l" t="t" r="r" b="b"/>
              <a:pathLst>
                <a:path w="706025" h="236438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138730" y="2416012"/>
            <a:ext cx="10859067" cy="6036501"/>
            <a:chOff x="0" y="0"/>
            <a:chExt cx="2860001" cy="15898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60001" cy="1589860"/>
            </a:xfrm>
            <a:custGeom>
              <a:avLst/>
              <a:gdLst/>
              <a:ahLst/>
              <a:cxnLst/>
              <a:rect l="l" t="t" r="r" b="b"/>
              <a:pathLst>
                <a:path w="2860001" h="1589860">
                  <a:moveTo>
                    <a:pt x="0" y="0"/>
                  </a:moveTo>
                  <a:lnTo>
                    <a:pt x="2860001" y="0"/>
                  </a:lnTo>
                  <a:lnTo>
                    <a:pt x="2860001" y="1589860"/>
                  </a:lnTo>
                  <a:lnTo>
                    <a:pt x="0" y="1589860"/>
                  </a:ln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2860001" cy="16089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207689" y="6410545"/>
            <a:ext cx="2014483" cy="2344125"/>
            <a:chOff x="0" y="0"/>
            <a:chExt cx="6985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7"/>
              <a:stretch>
                <a:fillRect l="-8181" r="-8181"/>
              </a:stretch>
            </a:blipFill>
            <a:ln w="19050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9B9B9B">
                      <a:alpha val="12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880410" y="1481618"/>
            <a:ext cx="2014483" cy="2344125"/>
            <a:chOff x="0" y="0"/>
            <a:chExt cx="6985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8"/>
              <a:stretch>
                <a:fillRect l="-48404" r="-48404"/>
              </a:stretch>
            </a:blipFill>
            <a:ln w="28575" cap="sq">
              <a:gradFill>
                <a:gsLst>
                  <a:gs pos="0">
                    <a:srgbClr val="9FCDFF">
                      <a:alpha val="100000"/>
                    </a:srgbClr>
                  </a:gs>
                  <a:gs pos="100000">
                    <a:srgbClr val="6F6296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16630080" y="1189894"/>
            <a:ext cx="822214" cy="291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  <a:spcBef>
                <a:spcPct val="0"/>
              </a:spcBef>
            </a:pPr>
            <a:r>
              <a:rPr lang="en-US" sz="1920" b="1" spc="199" dirty="0" smtClean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17/18</a:t>
            </a:r>
            <a:endParaRPr lang="en-US" sz="1920" b="1" spc="199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253489" y="8821647"/>
            <a:ext cx="4878000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2000" b="1" spc="78" dirty="0" smtClean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Whether Monitoring Project</a:t>
            </a:r>
            <a:endParaRPr lang="en-US" sz="2000" b="1" spc="78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472049" y="3692317"/>
            <a:ext cx="5659440" cy="1376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873"/>
              </a:lnSpc>
              <a:spcBef>
                <a:spcPct val="0"/>
              </a:spcBef>
            </a:pPr>
            <a:r>
              <a:rPr lang="en-US" sz="9373" b="1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FINAL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72049" y="4972139"/>
            <a:ext cx="4974568" cy="1376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873"/>
              </a:lnSpc>
              <a:spcBef>
                <a:spcPct val="0"/>
              </a:spcBef>
            </a:pPr>
            <a:r>
              <a:rPr lang="en-US" sz="9373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RESULT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997366" y="2471455"/>
            <a:ext cx="8454927" cy="4988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91"/>
              </a:lnSpc>
            </a:pPr>
            <a:endParaRPr dirty="0"/>
          </a:p>
          <a:p>
            <a:pPr algn="l">
              <a:lnSpc>
                <a:spcPts val="3991"/>
              </a:lnSpc>
            </a:pPr>
            <a:r>
              <a:rPr lang="en-US" sz="3440" b="1" dirty="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The project successfully creates a functional </a:t>
            </a:r>
            <a:r>
              <a:rPr lang="en-US" sz="3440" b="1" dirty="0" err="1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IoT</a:t>
            </a:r>
            <a:r>
              <a:rPr lang="en-US" sz="3440" b="1" dirty="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weather monitoring system that:</a:t>
            </a:r>
          </a:p>
          <a:p>
            <a:pPr marL="742823" lvl="1" indent="-371412" algn="l">
              <a:lnSpc>
                <a:spcPts val="3991"/>
              </a:lnSpc>
              <a:buFont typeface="Arial"/>
              <a:buChar char="•"/>
            </a:pPr>
            <a:r>
              <a:rPr lang="en-US" sz="3440" b="1" dirty="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Measures temperature </a:t>
            </a:r>
            <a:r>
              <a:rPr lang="en-US" sz="3440" b="1" dirty="0" smtClean="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, humidity and more</a:t>
            </a:r>
            <a:endParaRPr lang="en-US" sz="3440" b="1" dirty="0">
              <a:solidFill>
                <a:srgbClr val="FFFFFF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742823" lvl="1" indent="-371412" algn="l">
              <a:lnSpc>
                <a:spcPts val="3991"/>
              </a:lnSpc>
              <a:buFont typeface="Arial"/>
              <a:buChar char="•"/>
            </a:pPr>
            <a:r>
              <a:rPr lang="en-US" sz="3440" b="1" dirty="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Sends data </a:t>
            </a:r>
            <a:r>
              <a:rPr lang="en-US" sz="3440" b="1" dirty="0" smtClean="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automatically </a:t>
            </a:r>
            <a:r>
              <a:rPr lang="en-US" sz="3440" b="1" dirty="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to the cloud</a:t>
            </a:r>
          </a:p>
          <a:p>
            <a:pPr marL="742823" lvl="1" indent="-371412" algn="l">
              <a:lnSpc>
                <a:spcPts val="3991"/>
              </a:lnSpc>
              <a:buFont typeface="Arial"/>
              <a:buChar char="•"/>
            </a:pPr>
            <a:r>
              <a:rPr lang="en-US" sz="3440" b="1" dirty="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Displays readings in real-time </a:t>
            </a:r>
            <a:r>
              <a:rPr lang="en-US" sz="3440" b="1" dirty="0" smtClean="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graphs</a:t>
            </a:r>
            <a:endParaRPr lang="en-US" sz="3440" b="1" dirty="0">
              <a:solidFill>
                <a:srgbClr val="FFFFFF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algn="l">
              <a:lnSpc>
                <a:spcPts val="2926"/>
              </a:lnSpc>
              <a:spcBef>
                <a:spcPct val="0"/>
              </a:spcBef>
            </a:pPr>
            <a:endParaRPr lang="en-US" sz="3440" b="1" dirty="0">
              <a:solidFill>
                <a:srgbClr val="FFFFFF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1201400" y="-3575367"/>
            <a:ext cx="16235139" cy="16235139"/>
          </a:xfrm>
          <a:custGeom>
            <a:avLst/>
            <a:gdLst/>
            <a:ahLst/>
            <a:cxnLst/>
            <a:rect l="l" t="t" r="r" b="b"/>
            <a:pathLst>
              <a:path w="16235139" h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6802847" y="9074087"/>
            <a:ext cx="365153" cy="347891"/>
          </a:xfrm>
          <a:custGeom>
            <a:avLst/>
            <a:gdLst/>
            <a:ahLst/>
            <a:cxnLst/>
            <a:rect l="l" t="t" r="r" b="b"/>
            <a:pathLst>
              <a:path w="365153" h="347891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6012275" y="1032755"/>
            <a:ext cx="2680687" cy="897724"/>
            <a:chOff x="0" y="0"/>
            <a:chExt cx="706025" cy="2364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06025" cy="236438"/>
            </a:xfrm>
            <a:custGeom>
              <a:avLst/>
              <a:gdLst/>
              <a:ahLst/>
              <a:cxnLst/>
              <a:rect l="l" t="t" r="r" b="b"/>
              <a:pathLst>
                <a:path w="706025" h="236438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1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406903" y="3310736"/>
            <a:ext cx="6995030" cy="24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2"/>
              </a:lnSpc>
              <a:spcBef>
                <a:spcPct val="0"/>
              </a:spcBef>
            </a:pPr>
            <a:r>
              <a:rPr lang="en-US" sz="16545" b="1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THANK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253489" y="2403386"/>
            <a:ext cx="2138817" cy="213881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6630080" y="1189894"/>
            <a:ext cx="822214" cy="291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  <a:spcBef>
                <a:spcPct val="0"/>
              </a:spcBef>
            </a:pPr>
            <a:r>
              <a:rPr lang="en-US" sz="1920" b="1" spc="199" dirty="0" smtClean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18/18</a:t>
            </a:r>
            <a:endParaRPr lang="en-US" sz="1920" b="1" spc="199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768105" y="5437365"/>
            <a:ext cx="4272627" cy="24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2"/>
              </a:lnSpc>
              <a:spcBef>
                <a:spcPct val="0"/>
              </a:spcBef>
            </a:pPr>
            <a:r>
              <a:rPr lang="en-US" sz="16545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YOU!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06250" y="3027113"/>
            <a:ext cx="9144000" cy="533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42"/>
              </a:lnSpc>
            </a:pPr>
            <a:r>
              <a:rPr lang="en-US" sz="2794" b="1" dirty="0" err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Shahab</a:t>
            </a:r>
            <a:r>
              <a:rPr lang="en-US" sz="2794" b="1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94" b="1" dirty="0" err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Ragab</a:t>
            </a:r>
            <a:r>
              <a:rPr lang="en-US" sz="2794" b="1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Hassan(IT 1) (TL)</a:t>
            </a:r>
          </a:p>
          <a:p>
            <a:pPr algn="l">
              <a:lnSpc>
                <a:spcPts val="3242"/>
              </a:lnSpc>
            </a:pPr>
            <a:endParaRPr lang="en-US" sz="2794" b="1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l">
              <a:lnSpc>
                <a:spcPts val="3242"/>
              </a:lnSpc>
            </a:pPr>
            <a:r>
              <a:rPr lang="en-US" sz="2794" b="1" dirty="0" smtClean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Mahmoud </a:t>
            </a:r>
            <a:r>
              <a:rPr lang="en-US" sz="2794" b="1" dirty="0" err="1" smtClean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Reda</a:t>
            </a:r>
            <a:r>
              <a:rPr lang="en-US" sz="2794" b="1" dirty="0" smtClean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Zahra (</a:t>
            </a:r>
            <a:r>
              <a:rPr lang="en-US" sz="2794" b="1" dirty="0" err="1" smtClean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iT</a:t>
            </a:r>
            <a:r>
              <a:rPr lang="en-US" sz="2794" b="1" dirty="0" smtClean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1)</a:t>
            </a:r>
            <a:endParaRPr lang="en-US" sz="2794" b="1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l">
              <a:lnSpc>
                <a:spcPts val="3242"/>
              </a:lnSpc>
            </a:pPr>
            <a:endParaRPr lang="en-US" sz="2794" b="1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l">
              <a:lnSpc>
                <a:spcPts val="3242"/>
              </a:lnSpc>
            </a:pPr>
            <a:r>
              <a:rPr lang="en-US" sz="2794" b="1" dirty="0" smtClean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Marwan </a:t>
            </a:r>
            <a:r>
              <a:rPr lang="en-US" sz="2794" b="1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Mohamed </a:t>
            </a:r>
            <a:r>
              <a:rPr lang="en-US" sz="2794" b="1" dirty="0" smtClean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Ahmed(IT 2)</a:t>
            </a:r>
            <a:endParaRPr lang="en-US" sz="2794" b="1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l">
              <a:lnSpc>
                <a:spcPts val="3242"/>
              </a:lnSpc>
            </a:pPr>
            <a:endParaRPr lang="en-US" sz="2794" b="1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>
              <a:lnSpc>
                <a:spcPts val="3242"/>
              </a:lnSpc>
            </a:pPr>
            <a:r>
              <a:rPr lang="en-US" sz="2794" b="1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Mina </a:t>
            </a:r>
            <a:r>
              <a:rPr lang="en-US" sz="2794" b="1" dirty="0" err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Atef</a:t>
            </a:r>
            <a:r>
              <a:rPr lang="en-US" sz="2794" b="1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Sami(IT 2</a:t>
            </a:r>
            <a:r>
              <a:rPr lang="en-US" sz="2794" b="1" dirty="0" smtClean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</a:t>
            </a:r>
            <a:endParaRPr lang="en-US" sz="2794" b="1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l">
              <a:lnSpc>
                <a:spcPts val="3242"/>
              </a:lnSpc>
            </a:pPr>
            <a:endParaRPr lang="en-US" sz="2794" b="1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>
              <a:lnSpc>
                <a:spcPts val="3242"/>
              </a:lnSpc>
            </a:pPr>
            <a:r>
              <a:rPr lang="en-US" sz="2794" b="1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Hassan </a:t>
            </a:r>
            <a:r>
              <a:rPr lang="en-US" sz="2794" b="1" dirty="0" err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Walid</a:t>
            </a:r>
            <a:r>
              <a:rPr lang="en-US" sz="2794" b="1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94" b="1" dirty="0" smtClean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Hassan(IT 1)</a:t>
            </a:r>
            <a:endParaRPr lang="en-US" sz="2794" b="1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l">
              <a:lnSpc>
                <a:spcPts val="3242"/>
              </a:lnSpc>
            </a:pPr>
            <a:endParaRPr lang="en-US" sz="2794" b="1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>
              <a:lnSpc>
                <a:spcPts val="3242"/>
              </a:lnSpc>
            </a:pPr>
            <a:r>
              <a:rPr lang="en-US" sz="2794" b="1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Mahmoud Mohamed </a:t>
            </a:r>
            <a:r>
              <a:rPr lang="en-US" sz="2794" b="1" dirty="0" err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Abd</a:t>
            </a:r>
            <a:r>
              <a:rPr lang="en-US" sz="2794" b="1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94" b="1" dirty="0" err="1" smtClean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Alhakam</a:t>
            </a:r>
            <a:r>
              <a:rPr lang="en-US" sz="2794" b="1" dirty="0" smtClean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(IT </a:t>
            </a:r>
            <a:r>
              <a:rPr lang="en-US" sz="2794" b="1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2)</a:t>
            </a:r>
          </a:p>
          <a:p>
            <a:pPr algn="l">
              <a:lnSpc>
                <a:spcPts val="3242"/>
              </a:lnSpc>
            </a:pPr>
            <a:endParaRPr lang="en-US" sz="2794" b="1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l">
              <a:lnSpc>
                <a:spcPts val="3242"/>
              </a:lnSpc>
              <a:spcBef>
                <a:spcPct val="0"/>
              </a:spcBef>
            </a:pPr>
            <a:endParaRPr lang="en-US" sz="2794" b="1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537</Words>
  <Application>Microsoft Office PowerPoint</Application>
  <PresentationFormat>Custom</PresentationFormat>
  <Paragraphs>109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Arial</vt:lpstr>
      <vt:lpstr>Antonio Light</vt:lpstr>
      <vt:lpstr>Raleway</vt:lpstr>
      <vt:lpstr>Calibri</vt:lpstr>
      <vt:lpstr>Raleway Medium</vt:lpstr>
      <vt:lpstr>Antonio Ultra-Bold</vt:lpstr>
      <vt:lpstr>Montserrat Medium</vt:lpstr>
      <vt:lpstr>Raleway Ultra-Bold</vt:lpstr>
      <vt:lpstr>Raleway Medium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Modern Simple Cybersecurity Presentation</dc:title>
  <dc:creator>Agent 47</dc:creator>
  <cp:lastModifiedBy>Dead</cp:lastModifiedBy>
  <cp:revision>16</cp:revision>
  <dcterms:created xsi:type="dcterms:W3CDTF">2006-08-16T00:00:00Z</dcterms:created>
  <dcterms:modified xsi:type="dcterms:W3CDTF">2025-12-16T11:04:15Z</dcterms:modified>
  <dc:identifier>DAG6X0jXoKs</dc:identifier>
</cp:coreProperties>
</file>